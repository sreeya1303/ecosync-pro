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2" r:id="rId1"/>
    <p:sldMasterId id="2147483684" r:id="rId2"/>
    <p:sldMasterId id="2147483696" r:id="rId3"/>
  </p:sldMasterIdLst>
  <p:notesMasterIdLst>
    <p:notesMasterId r:id="rId26"/>
  </p:notesMasterIdLst>
  <p:sldIdLst>
    <p:sldId id="266" r:id="rId4"/>
    <p:sldId id="267" r:id="rId5"/>
    <p:sldId id="259" r:id="rId6"/>
    <p:sldId id="260" r:id="rId7"/>
    <p:sldId id="262" r:id="rId8"/>
    <p:sldId id="263" r:id="rId9"/>
    <p:sldId id="298" r:id="rId10"/>
    <p:sldId id="299" r:id="rId11"/>
    <p:sldId id="302" r:id="rId12"/>
    <p:sldId id="303" r:id="rId13"/>
    <p:sldId id="304" r:id="rId14"/>
    <p:sldId id="305" r:id="rId15"/>
    <p:sldId id="269" r:id="rId16"/>
    <p:sldId id="277" r:id="rId17"/>
    <p:sldId id="271" r:id="rId18"/>
    <p:sldId id="281" r:id="rId19"/>
    <p:sldId id="284" r:id="rId20"/>
    <p:sldId id="283" r:id="rId21"/>
    <p:sldId id="286" r:id="rId22"/>
    <p:sldId id="279" r:id="rId23"/>
    <p:sldId id="270" r:id="rId24"/>
    <p:sldId id="306" r:id="rId25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3C8FDB5-F165-4033-A0AF-2FFE53EC6A44}" v="10" dt="2025-09-28T14:31:29.30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3" autoAdjust="0"/>
    <p:restoredTop sz="94660"/>
  </p:normalViewPr>
  <p:slideViewPr>
    <p:cSldViewPr>
      <p:cViewPr varScale="1">
        <p:scale>
          <a:sx n="65" d="100"/>
          <a:sy n="65" d="100"/>
        </p:scale>
        <p:origin x="714" y="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notesMaster" Target="notesMasters/notesMaster1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microsoft.com/office/2015/10/relationships/revisionInfo" Target="revisionInfo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viewProps" Target="viewProp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microsoft.com/office/2016/11/relationships/changesInfo" Target="changesInfos/changesInfo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 srujana" userId="3648d3c207bc55a1" providerId="LiveId" clId="{1FFB1484-05B8-4A80-A413-08D38C70514B}"/>
    <pc:docChg chg="addSld modSld">
      <pc:chgData name="g srujana" userId="3648d3c207bc55a1" providerId="LiveId" clId="{1FFB1484-05B8-4A80-A413-08D38C70514B}" dt="2025-09-28T14:31:39.838" v="889" actId="2711"/>
      <pc:docMkLst>
        <pc:docMk/>
      </pc:docMkLst>
      <pc:sldChg chg="modSp mod">
        <pc:chgData name="g srujana" userId="3648d3c207bc55a1" providerId="LiveId" clId="{1FFB1484-05B8-4A80-A413-08D38C70514B}" dt="2025-09-28T14:31:39.838" v="889" actId="2711"/>
        <pc:sldMkLst>
          <pc:docMk/>
          <pc:sldMk cId="0" sldId="259"/>
        </pc:sldMkLst>
        <pc:spChg chg="mod">
          <ac:chgData name="g srujana" userId="3648d3c207bc55a1" providerId="LiveId" clId="{1FFB1484-05B8-4A80-A413-08D38C70514B}" dt="2025-09-28T14:31:39.838" v="889" actId="2711"/>
          <ac:spMkLst>
            <pc:docMk/>
            <pc:sldMk cId="0" sldId="259"/>
            <ac:spMk id="2" creationId="{5D2E9270-E0D4-EFE2-6A7B-96B7C1C3F84D}"/>
          </ac:spMkLst>
        </pc:spChg>
      </pc:sldChg>
      <pc:sldChg chg="modSp mod">
        <pc:chgData name="g srujana" userId="3648d3c207bc55a1" providerId="LiveId" clId="{1FFB1484-05B8-4A80-A413-08D38C70514B}" dt="2025-09-28T14:00:37.820" v="44" actId="20577"/>
        <pc:sldMkLst>
          <pc:docMk/>
          <pc:sldMk cId="0" sldId="270"/>
        </pc:sldMkLst>
        <pc:spChg chg="mod">
          <ac:chgData name="g srujana" userId="3648d3c207bc55a1" providerId="LiveId" clId="{1FFB1484-05B8-4A80-A413-08D38C70514B}" dt="2025-09-28T14:00:37.820" v="44" actId="20577"/>
          <ac:spMkLst>
            <pc:docMk/>
            <pc:sldMk cId="0" sldId="270"/>
            <ac:spMk id="25604" creationId="{3CF5408A-C101-91F5-AF44-162C9FD10652}"/>
          </ac:spMkLst>
        </pc:spChg>
      </pc:sldChg>
      <pc:sldChg chg="modSp mod">
        <pc:chgData name="g srujana" userId="3648d3c207bc55a1" providerId="LiveId" clId="{1FFB1484-05B8-4A80-A413-08D38C70514B}" dt="2025-09-28T14:19:12.254" v="710" actId="12"/>
        <pc:sldMkLst>
          <pc:docMk/>
          <pc:sldMk cId="0" sldId="277"/>
        </pc:sldMkLst>
        <pc:spChg chg="mod">
          <ac:chgData name="g srujana" userId="3648d3c207bc55a1" providerId="LiveId" clId="{1FFB1484-05B8-4A80-A413-08D38C70514B}" dt="2025-09-28T14:19:12.254" v="710" actId="12"/>
          <ac:spMkLst>
            <pc:docMk/>
            <pc:sldMk cId="0" sldId="277"/>
            <ac:spMk id="2" creationId="{7FC187AA-19F8-7975-97FA-4C32B178F2DB}"/>
          </ac:spMkLst>
        </pc:spChg>
      </pc:sldChg>
      <pc:sldChg chg="modSp mod">
        <pc:chgData name="g srujana" userId="3648d3c207bc55a1" providerId="LiveId" clId="{1FFB1484-05B8-4A80-A413-08D38C70514B}" dt="2025-09-28T14:02:49.768" v="67" actId="20577"/>
        <pc:sldMkLst>
          <pc:docMk/>
          <pc:sldMk cId="0" sldId="298"/>
        </pc:sldMkLst>
        <pc:graphicFrameChg chg="modGraphic">
          <ac:chgData name="g srujana" userId="3648d3c207bc55a1" providerId="LiveId" clId="{1FFB1484-05B8-4A80-A413-08D38C70514B}" dt="2025-09-28T14:02:49.768" v="67" actId="20577"/>
          <ac:graphicFrameMkLst>
            <pc:docMk/>
            <pc:sldMk cId="0" sldId="298"/>
            <ac:graphicFrameMk id="7" creationId="{05B0D27D-991B-1814-8813-9DEC28345F8F}"/>
          </ac:graphicFrameMkLst>
        </pc:graphicFrameChg>
      </pc:sldChg>
      <pc:sldChg chg="addSp delSp modSp add mod">
        <pc:chgData name="g srujana" userId="3648d3c207bc55a1" providerId="LiveId" clId="{1FFB1484-05B8-4A80-A413-08D38C70514B}" dt="2025-09-28T14:02:20.001" v="66" actId="20577"/>
        <pc:sldMkLst>
          <pc:docMk/>
          <pc:sldMk cId="2577367581" sldId="306"/>
        </pc:sldMkLst>
        <pc:spChg chg="add mod">
          <ac:chgData name="g srujana" userId="3648d3c207bc55a1" providerId="LiveId" clId="{1FFB1484-05B8-4A80-A413-08D38C70514B}" dt="2025-09-28T14:02:20.001" v="66" actId="20577"/>
          <ac:spMkLst>
            <pc:docMk/>
            <pc:sldMk cId="2577367581" sldId="306"/>
            <ac:spMk id="2" creationId="{B2BD1473-1021-9500-2B6C-7C79E73BED71}"/>
          </ac:spMkLst>
        </pc:spChg>
        <pc:spChg chg="del mod">
          <ac:chgData name="g srujana" userId="3648d3c207bc55a1" providerId="LiveId" clId="{1FFB1484-05B8-4A80-A413-08D38C70514B}" dt="2025-09-28T13:55:33.378" v="26"/>
          <ac:spMkLst>
            <pc:docMk/>
            <pc:sldMk cId="2577367581" sldId="306"/>
            <ac:spMk id="21508" creationId="{FD91A60A-493A-7918-F4E7-A78306A11D20}"/>
          </ac:spMkLst>
        </pc:spChg>
        <pc:spChg chg="del mod">
          <ac:chgData name="g srujana" userId="3648d3c207bc55a1" providerId="LiveId" clId="{1FFB1484-05B8-4A80-A413-08D38C70514B}" dt="2025-09-28T13:50:46.751" v="3"/>
          <ac:spMkLst>
            <pc:docMk/>
            <pc:sldMk cId="2577367581" sldId="306"/>
            <ac:spMk id="25604" creationId="{21EEB5C9-11A6-A302-E880-3BF78BEC5F05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C87BF51-02A5-E272-BF1F-639820EC692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BB39EE1-D223-0491-4EDD-152F130A2901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F8E1C268-0BA7-4088-9943-D86FA78ABF84}" type="datetimeFigureOut">
              <a:rPr lang="en-IN"/>
              <a:pPr>
                <a:defRPr/>
              </a:pPr>
              <a:t>28-09-2025</a:t>
            </a:fld>
            <a:endParaRPr lang="en-IN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AA326F72-E985-EA20-41B5-DB1B4872EE2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IN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EA173897-78D1-4DE1-AAFA-B7175001EE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IN" noProof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711E8E-5500-4E5C-5594-F6F897942442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27CD0A-8A99-2BD3-B555-7AD79E4AB5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D94C6A1F-5DF4-4D07-B66D-D5D272931FE0}" type="slidenum">
              <a:rPr lang="en-IN" altLang="en-US"/>
              <a:pPr>
                <a:defRPr/>
              </a:pPr>
              <a:t>‹#›</a:t>
            </a:fld>
            <a:endParaRPr lang="en-I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334296-F3C5-7127-8393-324D8AD0C3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C0602DD-5EC2-4CA2-82A6-EF8BF1982D31}" type="datetime1">
              <a:rPr lang="en-IN"/>
              <a:pPr>
                <a:defRPr/>
              </a:pPr>
              <a:t>28-09-2025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1751D5-7DF9-9BAB-8597-0346AD0B0B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8C643A-BD62-B96A-63E3-AF3350C330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7E6DFBE-03E1-4E75-9912-8ACD9E52BC49}" type="slidenum">
              <a:rPr lang="en-IN" altLang="en-US"/>
              <a:pPr>
                <a:defRPr/>
              </a:pPr>
              <a:t>‹#›</a:t>
            </a:fld>
            <a:endParaRPr lang="en-IN" altLang="en-US"/>
          </a:p>
        </p:txBody>
      </p:sp>
    </p:spTree>
    <p:extLst>
      <p:ext uri="{BB962C8B-B14F-4D97-AF65-F5344CB8AC3E}">
        <p14:creationId xmlns:p14="http://schemas.microsoft.com/office/powerpoint/2010/main" val="17640542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E402E7-B64A-CD5C-A43C-9EA04A728A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7E773CE-D67D-46CF-B2CE-260D7F629094}" type="datetime1">
              <a:rPr lang="en-IN"/>
              <a:pPr>
                <a:defRPr/>
              </a:pPr>
              <a:t>28-09-2025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D99574-6046-516A-A91A-FF85B3B3E8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5B4AC6-3AA1-1906-D8B4-EBEFA4F1AF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AB25537-A456-4154-BDB6-0D94E072F9EC}" type="slidenum">
              <a:rPr lang="en-IN" altLang="en-US"/>
              <a:pPr>
                <a:defRPr/>
              </a:pPr>
              <a:t>‹#›</a:t>
            </a:fld>
            <a:endParaRPr lang="en-IN" altLang="en-US"/>
          </a:p>
        </p:txBody>
      </p:sp>
    </p:spTree>
    <p:extLst>
      <p:ext uri="{BB962C8B-B14F-4D97-AF65-F5344CB8AC3E}">
        <p14:creationId xmlns:p14="http://schemas.microsoft.com/office/powerpoint/2010/main" val="35087314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8135DC-EEAC-F36B-1B36-CEF5286F36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EF92494-974A-4B9F-BBD1-D1384554662B}" type="datetime1">
              <a:rPr lang="en-IN"/>
              <a:pPr>
                <a:defRPr/>
              </a:pPr>
              <a:t>28-09-2025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78A1C8-B9A6-A78B-71F6-2D3DA1BD82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A41B57-F07A-BD96-1825-C55BE1209B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0A28545-CB33-4DF3-91BE-340D68B90B63}" type="slidenum">
              <a:rPr lang="en-IN" altLang="en-US"/>
              <a:pPr>
                <a:defRPr/>
              </a:pPr>
              <a:t>‹#›</a:t>
            </a:fld>
            <a:endParaRPr lang="en-IN" altLang="en-US"/>
          </a:p>
        </p:txBody>
      </p:sp>
    </p:spTree>
    <p:extLst>
      <p:ext uri="{BB962C8B-B14F-4D97-AF65-F5344CB8AC3E}">
        <p14:creationId xmlns:p14="http://schemas.microsoft.com/office/powerpoint/2010/main" val="11481015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895A6D96-2966-82C3-F374-FC2F6953E6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AEB932-F7BD-4D65-8C09-9184DB68105D}" type="datetime1">
              <a:rPr lang="en-IN"/>
              <a:pPr>
                <a:defRPr/>
              </a:pPr>
              <a:t>28-09-2025</a:t>
            </a:fld>
            <a:endParaRPr lang="en-IN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F9255C83-B54F-92D2-6BD8-5EB5D2F779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EB7380FC-A1D6-29EE-3084-E60302931B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485011-F54E-46B2-B12F-03C1003574B1}" type="slidenum">
              <a:rPr lang="en-IN" altLang="en-US"/>
              <a:pPr>
                <a:defRPr/>
              </a:pPr>
              <a:t>‹#›</a:t>
            </a:fld>
            <a:endParaRPr lang="en-IN" altLang="en-US"/>
          </a:p>
        </p:txBody>
      </p:sp>
    </p:spTree>
    <p:extLst>
      <p:ext uri="{BB962C8B-B14F-4D97-AF65-F5344CB8AC3E}">
        <p14:creationId xmlns:p14="http://schemas.microsoft.com/office/powerpoint/2010/main" val="13613767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20B74241-2DA9-1753-11D5-1604701F62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DC372A1-4701-419E-9F3F-9DECE24626A3}" type="datetime1">
              <a:rPr lang="en-IN"/>
              <a:pPr>
                <a:defRPr/>
              </a:pPr>
              <a:t>28-09-2025</a:t>
            </a:fld>
            <a:endParaRPr lang="en-IN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227C37B4-64C4-1E57-F42D-CFD2397E9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53AD674D-EC42-F5D3-EF6F-21D9A9BEF2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A6A715-4CF7-436C-B24F-FA4375568B1A}" type="slidenum">
              <a:rPr lang="en-IN" altLang="en-US"/>
              <a:pPr>
                <a:defRPr/>
              </a:pPr>
              <a:t>‹#›</a:t>
            </a:fld>
            <a:endParaRPr lang="en-IN" altLang="en-US"/>
          </a:p>
        </p:txBody>
      </p:sp>
    </p:spTree>
    <p:extLst>
      <p:ext uri="{BB962C8B-B14F-4D97-AF65-F5344CB8AC3E}">
        <p14:creationId xmlns:p14="http://schemas.microsoft.com/office/powerpoint/2010/main" val="6789556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5842F1D2-A7D7-2F44-856D-E006C1E00E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255BC47-B01A-4A81-A826-792562FC9D60}" type="datetime1">
              <a:rPr lang="en-IN"/>
              <a:pPr>
                <a:defRPr/>
              </a:pPr>
              <a:t>28-09-2025</a:t>
            </a:fld>
            <a:endParaRPr lang="en-IN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83781064-9461-ECCC-D723-AA556E2C7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2BD4BC2F-E5E6-5A92-8E57-D95D67DB93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56CDC74-6955-4EB2-9FEA-D3A32FF61766}" type="slidenum">
              <a:rPr lang="en-IN" altLang="en-US"/>
              <a:pPr>
                <a:defRPr/>
              </a:pPr>
              <a:t>‹#›</a:t>
            </a:fld>
            <a:endParaRPr lang="en-IN" altLang="en-US"/>
          </a:p>
        </p:txBody>
      </p:sp>
    </p:spTree>
    <p:extLst>
      <p:ext uri="{BB962C8B-B14F-4D97-AF65-F5344CB8AC3E}">
        <p14:creationId xmlns:p14="http://schemas.microsoft.com/office/powerpoint/2010/main" val="19880221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A5FD849C-1E9C-901C-36BF-5572A1EE7B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2021D8-CF97-46C3-867F-DAABE912D258}" type="datetime1">
              <a:rPr lang="en-IN"/>
              <a:pPr>
                <a:defRPr/>
              </a:pPr>
              <a:t>28-09-2025</a:t>
            </a:fld>
            <a:endParaRPr lang="en-IN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46EFBC56-E085-757B-432B-C51A2B3E99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C08500F4-9A8B-5E61-0F25-6CB47E0532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4A98032-A1DA-4ED2-A293-9FFB31AA4D43}" type="slidenum">
              <a:rPr lang="en-IN" altLang="en-US"/>
              <a:pPr>
                <a:defRPr/>
              </a:pPr>
              <a:t>‹#›</a:t>
            </a:fld>
            <a:endParaRPr lang="en-IN" altLang="en-US"/>
          </a:p>
        </p:txBody>
      </p:sp>
    </p:spTree>
    <p:extLst>
      <p:ext uri="{BB962C8B-B14F-4D97-AF65-F5344CB8AC3E}">
        <p14:creationId xmlns:p14="http://schemas.microsoft.com/office/powerpoint/2010/main" val="14727372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F23BBF9E-9CBF-7D5A-60DF-2B8E85C538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7E1E8A-8118-4A19-9DDF-036A789DBC8C}" type="datetime1">
              <a:rPr lang="en-IN"/>
              <a:pPr>
                <a:defRPr/>
              </a:pPr>
              <a:t>28-09-2025</a:t>
            </a:fld>
            <a:endParaRPr lang="en-IN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09E88BCC-C742-6958-2407-35E8FBF8C8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3904C1BF-1E22-45E3-DE5D-89D4D8516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54F2FD6-2794-4052-B5A5-C092CF1EC59F}" type="slidenum">
              <a:rPr lang="en-IN" altLang="en-US"/>
              <a:pPr>
                <a:defRPr/>
              </a:pPr>
              <a:t>‹#›</a:t>
            </a:fld>
            <a:endParaRPr lang="en-IN" altLang="en-US"/>
          </a:p>
        </p:txBody>
      </p:sp>
    </p:spTree>
    <p:extLst>
      <p:ext uri="{BB962C8B-B14F-4D97-AF65-F5344CB8AC3E}">
        <p14:creationId xmlns:p14="http://schemas.microsoft.com/office/powerpoint/2010/main" val="26381733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IN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12CF4C6B-BCC5-A4ED-0B80-BCED9ED359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89C8B6D-83D0-46D4-A0D8-B84574976466}" type="datetime1">
              <a:rPr lang="en-IN"/>
              <a:pPr>
                <a:defRPr/>
              </a:pPr>
              <a:t>28-09-2025</a:t>
            </a:fld>
            <a:endParaRPr lang="en-IN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7DF85640-71B5-658E-989A-C886B102C2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36BC37C9-AA43-1D5D-ADE9-2E9638740A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2C554B-0622-465C-BD92-BC64326321EB}" type="slidenum">
              <a:rPr lang="en-IN" altLang="en-US"/>
              <a:pPr>
                <a:defRPr/>
              </a:pPr>
              <a:t>‹#›</a:t>
            </a:fld>
            <a:endParaRPr lang="en-IN" altLang="en-US"/>
          </a:p>
        </p:txBody>
      </p:sp>
    </p:spTree>
    <p:extLst>
      <p:ext uri="{BB962C8B-B14F-4D97-AF65-F5344CB8AC3E}">
        <p14:creationId xmlns:p14="http://schemas.microsoft.com/office/powerpoint/2010/main" val="20439458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A0A236-3DA2-D8CA-4DF4-89BE3E7067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68ACFDC-C228-4122-B9A4-09DCC4F191D4}" type="datetime1">
              <a:rPr lang="en-IN"/>
              <a:pPr>
                <a:defRPr/>
              </a:pPr>
              <a:t>28-09-2025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B014C9-D8F0-F838-8FB3-6C8B7489AB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F4452F-4E44-7D42-8CE9-28011F4B1C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EEE4C8-DA7D-4E55-9B6B-82E81B3DD229}" type="slidenum">
              <a:rPr lang="en-IN" altLang="en-US"/>
              <a:pPr>
                <a:defRPr/>
              </a:pPr>
              <a:t>‹#›</a:t>
            </a:fld>
            <a:endParaRPr lang="en-IN" altLang="en-US"/>
          </a:p>
        </p:txBody>
      </p:sp>
    </p:spTree>
    <p:extLst>
      <p:ext uri="{BB962C8B-B14F-4D97-AF65-F5344CB8AC3E}">
        <p14:creationId xmlns:p14="http://schemas.microsoft.com/office/powerpoint/2010/main" val="14229145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78D7C3-0BE1-DADB-09C3-C446F121CC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C45010B-6A69-4196-ACA4-A1923FD183E1}" type="datetime1">
              <a:rPr lang="en-IN"/>
              <a:pPr>
                <a:defRPr/>
              </a:pPr>
              <a:t>28-09-2025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837B7B-DAB2-6257-9AB6-0D29C085A9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E17BD9-8DF3-FD32-5204-943B2ECA03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5FDD468-ADF7-4D28-8138-84AA31E56DE5}" type="slidenum">
              <a:rPr lang="en-IN" altLang="en-US"/>
              <a:pPr>
                <a:defRPr/>
              </a:pPr>
              <a:t>‹#›</a:t>
            </a:fld>
            <a:endParaRPr lang="en-IN" altLang="en-US"/>
          </a:p>
        </p:txBody>
      </p:sp>
    </p:spTree>
    <p:extLst>
      <p:ext uri="{BB962C8B-B14F-4D97-AF65-F5344CB8AC3E}">
        <p14:creationId xmlns:p14="http://schemas.microsoft.com/office/powerpoint/2010/main" val="33110814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B2A988-B0FC-E915-7B13-EFB8E6D4FC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C394BEA-D24E-4914-BDE3-D15E32BA3A1A}" type="datetime1">
              <a:rPr lang="en-IN"/>
              <a:pPr>
                <a:defRPr/>
              </a:pPr>
              <a:t>28-09-2025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408943-C186-6D3B-1FC3-E09E6FFAB5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6CD0D0-BCCA-BAD4-78E6-A96A51EB69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97D1F70-367E-48BA-897A-A8853583BAC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6642345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6F85CA-A591-DE8A-025D-617B0C9404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B3074AA-BD0E-4648-ADDF-2ABB902AD6A0}" type="datetime1">
              <a:rPr lang="en-IN"/>
              <a:pPr>
                <a:defRPr/>
              </a:pPr>
              <a:t>28-09-2025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9C6AFB-F4E4-C130-9D80-351684FC0E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DEC5EB-44F0-77BA-AC27-3D8DC3A435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1DF753C-7BD6-40C9-94B9-5B284A06C35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4478914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0FC7B3-E83B-6F4F-AD2F-EE8C2A3557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0EB154-5013-424E-A42F-95F12B5ACED6}" type="datetime1">
              <a:rPr lang="en-IN"/>
              <a:pPr>
                <a:defRPr/>
              </a:pPr>
              <a:t>28-09-2025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93BC25-4BA8-A071-461D-3827243890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93CBB1-9F7E-0DD1-E7E1-29FEAB3AA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E717056-3BDD-400F-82AF-04BF36E2982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6548218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EF45D479-75E7-C57F-3B48-F5573BE7CE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E8CC777-8BAD-4734-9FDF-03CD42F141A0}" type="datetime1">
              <a:rPr lang="en-IN"/>
              <a:pPr>
                <a:defRPr/>
              </a:pPr>
              <a:t>28-09-2025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A361C8CF-74F2-805F-F7BE-03BC62A7F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15969206-A8C8-3871-1608-5D8FE87A4E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00EE78D-9AE6-42B6-8A90-DC59019ADD9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1535900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4F2733C1-FD5F-4082-DF51-7A439A4D16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974BB6-81B2-4E5E-81BE-38BD8F85BA2A}" type="datetime1">
              <a:rPr lang="en-IN"/>
              <a:pPr>
                <a:defRPr/>
              </a:pPr>
              <a:t>28-09-2025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0E14363A-8021-E5C7-4435-324293C71D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31F7A657-7715-5C50-D7AC-62827ADB48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49CB629-651E-47C6-981E-7C896E92093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8062433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FC9CF121-91A6-8B00-DE8C-F6CEE28331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64D26D2-4002-42A4-9581-137716F534B8}" type="datetime1">
              <a:rPr lang="en-IN"/>
              <a:pPr>
                <a:defRPr/>
              </a:pPr>
              <a:t>28-09-2025</a:t>
            </a:fld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82D4CEF1-AACE-873C-168B-BC42337908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DA5D6A3C-B8E4-010F-DABA-DEFF2BEE81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DDE2094-3333-4386-9003-6E176BE5958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1534238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14A14DDF-3F29-18CF-857E-CDD7B8C767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4B7D45-DA38-4C2D-8664-9649C5C31454}" type="datetime1">
              <a:rPr lang="en-IN"/>
              <a:pPr>
                <a:defRPr/>
              </a:pPr>
              <a:t>28-09-2025</a:t>
            </a:fld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9AD42C3C-AD4A-91CE-5D91-923F7463E6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5D50B033-91BC-9E8F-B2B1-DBB93AFECA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B7B08E8-D3C8-4419-9415-9AC10E73499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9460071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F78BCA5B-F82E-98D6-6DF2-646E15CA81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580D960-13DB-4B23-9D3A-C2C256EE0115}" type="datetime1">
              <a:rPr lang="en-IN"/>
              <a:pPr>
                <a:defRPr/>
              </a:pPr>
              <a:t>28-09-2025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459126C-30F2-664B-7F8C-08FB6FBD1C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674F1979-D1BF-8E06-1199-B0E04C7605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EC8C68B-D5F5-4216-AEC5-C1499F96A8B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6069115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497E3419-97B0-E7DE-E169-DBAD67ED9A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32EB264-6E0E-4FA0-A957-E5A4C7E3A9E2}" type="datetime1">
              <a:rPr lang="en-IN"/>
              <a:pPr>
                <a:defRPr/>
              </a:pPr>
              <a:t>28-09-2025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12A9482-9B76-09BC-96AE-3BF2A2FB45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8BAA8B48-BDA5-09FA-DC0C-81BB3F6222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F04CA9F-441C-43AA-ADED-62AAAF54562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7663103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8A2C10-B4B6-650A-0F62-DC06151226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DC0646D-D696-4246-90FE-060DA67E05D0}" type="datetime1">
              <a:rPr lang="en-IN"/>
              <a:pPr>
                <a:defRPr/>
              </a:pPr>
              <a:t>28-09-2025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94D7D9-B1BF-8905-2E28-5030415C2F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947FE3-81FE-940A-D188-97228B34F2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9A664CB-D556-422E-BCD9-D127A3D3E59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6442459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61D971-1F05-F36A-D2AD-8402DA0B44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0B71C4F-6C27-49B2-BA3E-D89304CEDD2D}" type="datetime1">
              <a:rPr lang="en-IN"/>
              <a:pPr>
                <a:defRPr/>
              </a:pPr>
              <a:t>28-09-2025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4C8AEE-CCA0-E978-33EA-2FE0554501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A93A91-CE60-FD06-85F8-632A12D12F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7AFB79B-B4B4-441D-8A8F-1DCDCBECE99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2103131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ED5E8F-B73C-8C0C-BEE0-882451CFD9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33122C9-9651-4B33-A61E-7A9E816D19B5}" type="datetime1">
              <a:rPr lang="en-IN"/>
              <a:pPr>
                <a:defRPr/>
              </a:pPr>
              <a:t>28-09-2025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D83320-B7C1-3801-B699-A493BF6160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9F655F-5E97-2A08-3CD2-1219B67F08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3616A8B-0F5F-41F1-B00E-BE3F941C49E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5913752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DA17AD-C2A2-CB03-9BF7-CA42617FE8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DF93899-9BB7-444C-A39B-8BE144450147}" type="datetime1">
              <a:rPr lang="en-IN"/>
              <a:pPr>
                <a:defRPr/>
              </a:pPr>
              <a:t>28-09-2025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4C4DCF-D4C6-AE81-7EC2-5AFEF8CE8F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A37856-34A6-4990-DDB3-4587C57B75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73C4F10-B9B6-4443-9DAA-629A77A9BF2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3475404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B4B1C0-236A-30D7-9460-F5913EC5C7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EB62BF9-AA9F-4029-8A6A-4695D292D653}" type="datetime1">
              <a:rPr lang="en-IN"/>
              <a:pPr>
                <a:defRPr/>
              </a:pPr>
              <a:t>28-09-2025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A7D996-51E5-2DD2-65A9-D5DAE12606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D00043-1710-F62C-37E3-E275DEFBC1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5728755-5731-4C35-B8B6-48FC3E70D8F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3200089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C6CE0817-90DD-7A6F-0EC7-D02A46ED9C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47F3D2-4662-483A-BDA5-9CA8611DE99F}" type="datetime1">
              <a:rPr lang="en-IN"/>
              <a:pPr>
                <a:defRPr/>
              </a:pPr>
              <a:t>28-09-2025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2A509FD-ED9B-FFBC-BF24-6FBFD15A87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F82A3F24-33B2-067D-CC23-991B6A6F98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AA94C8F-F69D-47A3-853C-FE5D86634D6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8071600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43F407CD-7C10-8884-0FD2-EB276025A8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32F104-0222-492C-97E2-14D2EAE9542F}" type="datetime1">
              <a:rPr lang="en-IN"/>
              <a:pPr>
                <a:defRPr/>
              </a:pPr>
              <a:t>28-09-2025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6A75EAC7-E4D3-B46D-B10E-6AA26C9C31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1CA0C920-35C0-F13A-9095-0BCC8385F4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D485144-2E31-4B7F-9AD5-CBC9EC752DC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739032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74A78393-B841-F24D-F1F8-FDD6A31CD2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0D3CFBC-2077-40B5-B8BC-9FCCC219D77D}" type="datetime1">
              <a:rPr lang="en-IN"/>
              <a:pPr>
                <a:defRPr/>
              </a:pPr>
              <a:t>28-09-2025</a:t>
            </a:fld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C0B8665-3F1D-2925-3281-8819989F9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45338F91-1F77-1BD9-99A8-A6B4049877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14E74D5-604C-4B1E-AC9D-6BE064CB732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1007634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A3315C3C-5188-915A-AD28-3CE89055C8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B3E5349-3040-4B32-B3CE-7C49536E9CE4}" type="datetime1">
              <a:rPr lang="en-IN"/>
              <a:pPr>
                <a:defRPr/>
              </a:pPr>
              <a:t>28-09-2025</a:t>
            </a:fld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849F43A2-0BAA-77E7-021C-721F38DE4D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DDABA8A1-9B6E-76DD-E294-945A0B3953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2F715E4-38D3-4DE2-A86B-52436525C74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7391836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21C695EF-4AF9-D278-2EB8-C2037A3FE1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21E03D-21DB-414B-9928-B6EDD056D507}" type="datetime1">
              <a:rPr lang="en-IN"/>
              <a:pPr>
                <a:defRPr/>
              </a:pPr>
              <a:t>28-09-2025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898FA740-15A2-07DC-A89A-63C07B40EC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0DC9A533-26C8-C5C8-D0A6-FED0F1F8E8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559A9EF-DB04-4B01-9001-FF5C5FD573C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7885219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02B5DECE-DA51-196D-A326-0BEE8C3E70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E12161-BB39-4AA2-8BCC-5E60C41C15BB}" type="datetime1">
              <a:rPr lang="en-IN"/>
              <a:pPr>
                <a:defRPr/>
              </a:pPr>
              <a:t>28-09-2025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D232DB43-D3C8-5EE9-5B43-73E4F0ED10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15C92E62-0597-3DFB-1F38-7A3FEC7B38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CB7F768-C327-4C3D-B961-4FB2B4AB5EB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2421204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79BD62-9FF8-63A1-351A-D017F5553B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38ECC9-165E-4598-8907-7921125CAF08}" type="datetime1">
              <a:rPr lang="en-IN"/>
              <a:pPr>
                <a:defRPr/>
              </a:pPr>
              <a:t>28-09-2025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025609-FF19-DB8C-AEC2-D45949DEEE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E6122D-7D1E-2164-6BD0-B9DA7A4410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07F0823-67A5-429D-B051-F22A8715018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6651710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566845-E074-D2C2-021D-23AE3FDC44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3A2D86-3770-4809-8ADF-B567085EB31C}" type="datetime1">
              <a:rPr lang="en-IN"/>
              <a:pPr>
                <a:defRPr/>
              </a:pPr>
              <a:t>28-09-2025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14FFB4-8B00-3FBF-1D86-844EA3B853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7D64C3-1561-3626-F2B6-DA1D7A96D7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F1E96FC-3BE2-4043-BF91-AE24A1B2702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627083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1F57F524-26BC-68A4-A782-BE783F6AF186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  <a:endParaRPr lang="en-IN" altLang="en-US"/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2D96DDE8-C5FC-8594-7447-44EC1FA827B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  <a:endParaRPr lang="en-I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738CA4-7798-5AA3-1444-2F611A6E3B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C2C208E7-85E4-445B-A1BC-EAA1516A840B}" type="datetime1">
              <a:rPr lang="en-IN"/>
              <a:pPr>
                <a:defRPr/>
              </a:pPr>
              <a:t>28-09-2025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593347-3B16-8DFF-CB6C-478198F5150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D321F7-A90C-B42A-AAA2-5ED1FC89D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94EAC219-359E-435D-B5F6-6BD0FC7FAEC9}" type="slidenum">
              <a:rPr lang="en-IN" altLang="en-US"/>
              <a:pPr>
                <a:defRPr/>
              </a:pPr>
              <a:t>‹#›</a:t>
            </a:fld>
            <a:endParaRPr lang="en-I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Placeholder 1">
            <a:extLst>
              <a:ext uri="{FF2B5EF4-FFF2-40B4-BE49-F238E27FC236}">
                <a16:creationId xmlns:a16="http://schemas.microsoft.com/office/drawing/2014/main" id="{D91D1F57-70F8-D541-9555-56AB6401CFB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2051" name="Text Placeholder 2">
            <a:extLst>
              <a:ext uri="{FF2B5EF4-FFF2-40B4-BE49-F238E27FC236}">
                <a16:creationId xmlns:a16="http://schemas.microsoft.com/office/drawing/2014/main" id="{79FAC4A0-8043-A7FE-40A7-196BA74DF85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084BE9-C5A9-5087-9923-1AA04C1AE8E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prstClr val="black">
                    <a:tint val="75000"/>
                  </a:prst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B81C4910-A71C-4E7A-BDC3-BB9B13251104}" type="datetime1">
              <a:rPr lang="en-IN"/>
              <a:pPr>
                <a:defRPr/>
              </a:pPr>
              <a:t>28-09-2025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9AED41-E89B-17FE-4A17-E73C83E276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prstClr val="black">
                    <a:tint val="75000"/>
                  </a:prst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FB27E7-E61A-A1D0-2EB7-96C19995D5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453212F6-815E-4EAE-981F-EEE9D98BF63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  <p:sldLayoutId id="2147483709" r:id="rId2"/>
    <p:sldLayoutId id="2147483710" r:id="rId3"/>
    <p:sldLayoutId id="2147483711" r:id="rId4"/>
    <p:sldLayoutId id="2147483712" r:id="rId5"/>
    <p:sldLayoutId id="2147483713" r:id="rId6"/>
    <p:sldLayoutId id="2147483714" r:id="rId7"/>
    <p:sldLayoutId id="2147483715" r:id="rId8"/>
    <p:sldLayoutId id="2147483716" r:id="rId9"/>
    <p:sldLayoutId id="2147483717" r:id="rId10"/>
    <p:sldLayoutId id="2147483718" r:id="rId11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Placeholder 1">
            <a:extLst>
              <a:ext uri="{FF2B5EF4-FFF2-40B4-BE49-F238E27FC236}">
                <a16:creationId xmlns:a16="http://schemas.microsoft.com/office/drawing/2014/main" id="{A3DF941E-4E8F-E60C-DAE0-1C160F26662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3075" name="Text Placeholder 2">
            <a:extLst>
              <a:ext uri="{FF2B5EF4-FFF2-40B4-BE49-F238E27FC236}">
                <a16:creationId xmlns:a16="http://schemas.microsoft.com/office/drawing/2014/main" id="{253F3CF8-ECB4-C474-71F3-67E48DC9509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CDDB2D-5552-721B-5DE5-3A9D9CA4DC8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prstClr val="black">
                    <a:tint val="75000"/>
                  </a:prst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F2048C1C-6308-44A3-8A08-5DC734D60663}" type="datetime1">
              <a:rPr lang="en-IN"/>
              <a:pPr>
                <a:defRPr/>
              </a:pPr>
              <a:t>28-09-2025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83710B-06E7-28EE-B514-6610713ECC4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prstClr val="black">
                    <a:tint val="75000"/>
                  </a:prst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63DD8C-6AC8-4C4C-EB26-89FACF8336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609D0008-5E95-425B-A883-BC5CBD5E820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9" r:id="rId1"/>
    <p:sldLayoutId id="2147483720" r:id="rId2"/>
    <p:sldLayoutId id="2147483721" r:id="rId3"/>
    <p:sldLayoutId id="2147483722" r:id="rId4"/>
    <p:sldLayoutId id="2147483723" r:id="rId5"/>
    <p:sldLayoutId id="2147483724" r:id="rId6"/>
    <p:sldLayoutId id="2147483725" r:id="rId7"/>
    <p:sldLayoutId id="2147483726" r:id="rId8"/>
    <p:sldLayoutId id="2147483727" r:id="rId9"/>
    <p:sldLayoutId id="2147483728" r:id="rId10"/>
    <p:sldLayoutId id="2147483729" r:id="rId11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>
            <a:extLst>
              <a:ext uri="{FF2B5EF4-FFF2-40B4-BE49-F238E27FC236}">
                <a16:creationId xmlns:a16="http://schemas.microsoft.com/office/drawing/2014/main" id="{1125B383-DC25-65E6-CBDB-BD53E2065BE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39713" y="747713"/>
            <a:ext cx="8580437" cy="1457325"/>
          </a:xfrm>
        </p:spPr>
        <p:txBody>
          <a:bodyPr/>
          <a:lstStyle/>
          <a:p>
            <a:pPr eaLnBrk="1" hangingPunct="1"/>
            <a:r>
              <a:rPr lang="en-IN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Capstone Project – I:  Review – 1 on</a:t>
            </a:r>
            <a:br>
              <a:rPr lang="en-IN" altLang="en-US" sz="3200" b="1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altLang="en-US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Cloud-IoT Based Environmental Monitoring and Alert System</a:t>
            </a:r>
            <a:endParaRPr lang="en-IN" altLang="en-US" sz="2800" b="1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227C57-09D2-6A66-6B36-698B92C197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11413" y="4508500"/>
            <a:ext cx="4105275" cy="1222375"/>
          </a:xfrm>
        </p:spPr>
        <p:txBody>
          <a:bodyPr rtlCol="0">
            <a:normAutofit fontScale="85000" lnSpcReduction="20000"/>
          </a:bodyPr>
          <a:lstStyle/>
          <a:p>
            <a:pPr marL="0" indent="0" algn="ctr"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IN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Under the Guidance of</a:t>
            </a:r>
          </a:p>
          <a:p>
            <a:pPr marL="0" indent="0" algn="ctr"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IN" b="1" dirty="0"/>
              <a:t>C Thirumalai Selvan</a:t>
            </a:r>
          </a:p>
          <a:p>
            <a:pPr marL="0" indent="0" algn="ctr"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IN" dirty="0"/>
              <a:t>Assistant Professor</a:t>
            </a:r>
            <a:endParaRPr lang="en-US" alt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100" name="TextBox 4">
            <a:extLst>
              <a:ext uri="{FF2B5EF4-FFF2-40B4-BE49-F238E27FC236}">
                <a16:creationId xmlns:a16="http://schemas.microsoft.com/office/drawing/2014/main" id="{478015B4-0C79-1293-24AF-B41B060EDB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138" y="2420938"/>
            <a:ext cx="8375650" cy="19462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defRPr/>
            </a:pPr>
            <a:r>
              <a:rPr lang="en-IN" altLang="en-US" sz="20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Presented by the Batch No. : 88</a:t>
            </a:r>
          </a:p>
          <a:p>
            <a:pPr>
              <a:defRPr/>
            </a:pPr>
            <a:endParaRPr lang="en-US" altLang="en-US" sz="105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defRPr/>
            </a:pPr>
            <a:r>
              <a:rPr lang="en-US" altLang="en-US" sz="18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                                </a:t>
            </a:r>
            <a:r>
              <a:rPr lang="en-US" altLang="en-US" sz="1800" b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G Moukthika Sri Srujana           BU22CSEN0102316</a:t>
            </a:r>
            <a:endParaRPr lang="en-US" altLang="en-US" sz="18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defRPr/>
            </a:pPr>
            <a:r>
              <a:rPr lang="en-US" altLang="en-US" sz="1800" b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                                Kunthalapati Sreeya                    BU22CSEN0102310          </a:t>
            </a:r>
            <a:endParaRPr lang="en-US" altLang="en-US" sz="18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defRPr/>
            </a:pPr>
            <a:r>
              <a:rPr lang="it-IT" altLang="en-US" sz="1800" b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                                Sreekar Venkata Kanduri</a:t>
            </a:r>
            <a:r>
              <a:rPr lang="en-US" altLang="en-US" sz="1800" b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          BU22CSEN0101143 </a:t>
            </a:r>
            <a:endParaRPr lang="en-US" altLang="en-US" sz="18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defRPr/>
            </a:pPr>
            <a:r>
              <a:rPr lang="it-IT" altLang="en-US" sz="1800" b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                                Uppala Dhanush</a:t>
            </a:r>
            <a:r>
              <a:rPr lang="en-US" altLang="en-US" sz="1800" b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Shankar           BU22CSEN0100265</a:t>
            </a:r>
            <a:endParaRPr lang="en-US" altLang="en-US" sz="18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defRPr/>
            </a:pPr>
            <a:r>
              <a:rPr lang="en-US" altLang="en-US" sz="1800" b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                                       </a:t>
            </a:r>
            <a:endParaRPr lang="en-US" altLang="en-US" sz="18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125" name="Rectangle 11">
            <a:extLst>
              <a:ext uri="{FF2B5EF4-FFF2-40B4-BE49-F238E27FC236}">
                <a16:creationId xmlns:a16="http://schemas.microsoft.com/office/drawing/2014/main" id="{E23FACBE-25F9-122D-D091-431F598BCE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5732463"/>
            <a:ext cx="8280400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IN" altLang="en-US" sz="2000" b="1">
                <a:solidFill>
                  <a:srgbClr val="00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and Engineering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GITAM School of CSE, GITAM (Deemed to be University),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Bengaluru, Karnataka, INDIA.</a:t>
            </a:r>
            <a:endParaRPr lang="en-IN" altLang="en-US" sz="2000" b="1">
              <a:solidFill>
                <a:srgbClr val="00009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126" name="Picture 2" descr="D:\GITAM-GST-CSE\2024-25\Capstone-Project\GITAM-newlogo.jpeg">
            <a:extLst>
              <a:ext uri="{FF2B5EF4-FFF2-40B4-BE49-F238E27FC236}">
                <a16:creationId xmlns:a16="http://schemas.microsoft.com/office/drawing/2014/main" id="{1D4139B3-FC6B-9FBB-2744-C5190ACA5C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04025" y="-26988"/>
            <a:ext cx="2339975" cy="9620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>
            <a:extLst>
              <a:ext uri="{FF2B5EF4-FFF2-40B4-BE49-F238E27FC236}">
                <a16:creationId xmlns:a16="http://schemas.microsoft.com/office/drawing/2014/main" id="{7A75E48C-59AA-46B5-215E-E0C70BD8B9C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95288" y="-171450"/>
            <a:ext cx="5278437" cy="2305050"/>
          </a:xfrm>
        </p:spPr>
        <p:txBody>
          <a:bodyPr/>
          <a:lstStyle/>
          <a:p>
            <a:pPr algn="just" eaLnBrk="1" hangingPunct="1"/>
            <a:r>
              <a:rPr lang="en-IN" altLang="en-US" sz="2800" b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01121C-F376-B04C-61F4-830D884F90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288" y="1520825"/>
            <a:ext cx="8220075" cy="5076825"/>
          </a:xfrm>
        </p:spPr>
        <p:txBody>
          <a:bodyPr rtlCol="0">
            <a:noAutofit/>
          </a:bodyPr>
          <a:lstStyle/>
          <a:p>
            <a:pPr marL="457200" indent="-457200" eaLnBrk="1" fontAlgn="auto" hangingPunct="1">
              <a:spcAft>
                <a:spcPts val="0"/>
              </a:spcAft>
              <a:buFont typeface="+mj-lt"/>
              <a:buAutoNum type="arabicPeriod"/>
              <a:defRPr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  <a:p>
            <a:pPr marL="457200" indent="-457200" eaLnBrk="1" fontAlgn="auto" hangingPunct="1">
              <a:spcAft>
                <a:spcPts val="0"/>
              </a:spcAft>
              <a:buFont typeface="+mj-lt"/>
              <a:buAutoNum type="arabicPeriod"/>
              <a:defRPr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marL="457200" indent="-457200" eaLnBrk="1" fontAlgn="auto" hangingPunct="1">
              <a:spcAft>
                <a:spcPts val="0"/>
              </a:spcAft>
              <a:buFont typeface="+mj-lt"/>
              <a:buAutoNum type="arabicPeriod"/>
              <a:defRPr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  <a:p>
            <a:pPr marL="457200" indent="-457200" eaLnBrk="1" fontAlgn="auto" hangingPunct="1">
              <a:spcAft>
                <a:spcPts val="0"/>
              </a:spcAft>
              <a:buFont typeface="+mj-lt"/>
              <a:buAutoNum type="arabicPeriod"/>
              <a:defRPr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Statements</a:t>
            </a:r>
          </a:p>
          <a:p>
            <a:pPr marL="457200" indent="-457200" eaLnBrk="1" fontAlgn="auto" hangingPunct="1">
              <a:spcAft>
                <a:spcPts val="0"/>
              </a:spcAft>
              <a:buFont typeface="+mj-lt"/>
              <a:buAutoNum type="arabicPeriod"/>
              <a:defRPr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  <a:p>
            <a:pPr marL="457200" indent="-457200" eaLnBrk="1" fontAlgn="auto" hangingPunct="1">
              <a:spcAft>
                <a:spcPts val="0"/>
              </a:spcAft>
              <a:buFont typeface="+mj-lt"/>
              <a:buAutoNum type="arabicPeriod"/>
              <a:defRPr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 Breakdown &amp; Task Allocation</a:t>
            </a:r>
          </a:p>
          <a:p>
            <a:pPr marL="457200" indent="-457200" eaLnBrk="1" fontAlgn="auto" hangingPunct="1">
              <a:spcAft>
                <a:spcPts val="0"/>
              </a:spcAft>
              <a:buFont typeface="+mj-lt"/>
              <a:buAutoNum type="arabicPeriod"/>
              <a:defRPr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Timeline &amp; Milestones (Gantt Chart)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eaLnBrk="1" fontAlgn="auto" hangingPunct="1">
              <a:spcAft>
                <a:spcPts val="0"/>
              </a:spcAft>
              <a:buFont typeface="+mj-lt"/>
              <a:buAutoNum type="arabicPeriod"/>
              <a:defRPr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 marL="457200" indent="-457200" eaLnBrk="1" fontAlgn="auto" hangingPunct="1">
              <a:spcAft>
                <a:spcPts val="0"/>
              </a:spcAft>
              <a:buFont typeface="+mj-lt"/>
              <a:buAutoNum type="arabicPeriod"/>
              <a:defRPr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  <a:p>
            <a:pPr eaLnBrk="1" fontAlgn="auto" hangingPunct="1">
              <a:spcAft>
                <a:spcPts val="0"/>
              </a:spcAft>
              <a:buFont typeface="Wingdings" panose="05000000000000000000" pitchFamily="2" charset="2"/>
              <a:buChar char="Ø"/>
              <a:defRPr/>
            </a:pPr>
            <a:endParaRPr lang="en-IN" sz="2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148" name="Picture 2" descr="D:\GITAM-GST-CSE\2024-25\Capstone-Project\GITAM-newlogo.jpeg">
            <a:extLst>
              <a:ext uri="{FF2B5EF4-FFF2-40B4-BE49-F238E27FC236}">
                <a16:creationId xmlns:a16="http://schemas.microsoft.com/office/drawing/2014/main" id="{AD4A1094-95CC-F731-9605-4CAD4F5682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04025" y="-26988"/>
            <a:ext cx="2339975" cy="9620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D:\GITAM-GST-CSE\2024-25\Capstone-Project\GITAM-newlogo.jpeg">
            <a:extLst>
              <a:ext uri="{FF2B5EF4-FFF2-40B4-BE49-F238E27FC236}">
                <a16:creationId xmlns:a16="http://schemas.microsoft.com/office/drawing/2014/main" id="{74CFF561-6FA0-DDA8-E896-38146E21F5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04025" y="-26988"/>
            <a:ext cx="2339975" cy="9620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171" name="Rectangle 3">
            <a:extLst>
              <a:ext uri="{FF2B5EF4-FFF2-40B4-BE49-F238E27FC236}">
                <a16:creationId xmlns:a16="http://schemas.microsoft.com/office/drawing/2014/main" id="{E3E24CE4-5DE5-6706-B035-CCD477E100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59113" y="312738"/>
            <a:ext cx="2736850" cy="5238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IN" altLang="en-US" sz="2800" b="1" dirty="0">
                <a:solidFill>
                  <a:srgbClr val="0070C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Abstract</a:t>
            </a:r>
            <a:endParaRPr lang="en-IN" altLang="en-US" b="1" dirty="0">
              <a:solidFill>
                <a:srgbClr val="0070C0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7172" name="Rectangle 6">
            <a:extLst>
              <a:ext uri="{FF2B5EF4-FFF2-40B4-BE49-F238E27FC236}">
                <a16:creationId xmlns:a16="http://schemas.microsoft.com/office/drawing/2014/main" id="{F6294BD7-0785-2BE4-3586-A4FEA7A057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2492375"/>
            <a:ext cx="8281988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73025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en-US" sz="2000" b="1" i="1" u="sng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173" name="Rectangle 7">
            <a:extLst>
              <a:ext uri="{FF2B5EF4-FFF2-40B4-BE49-F238E27FC236}">
                <a16:creationId xmlns:a16="http://schemas.microsoft.com/office/drawing/2014/main" id="{DD19E5AC-1E65-343F-A551-5AAC70E2AB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1042988"/>
            <a:ext cx="85693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73025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en-US" sz="1800" b="1" i="1" u="sng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6">
            <a:extLst>
              <a:ext uri="{FF2B5EF4-FFF2-40B4-BE49-F238E27FC236}">
                <a16:creationId xmlns:a16="http://schemas.microsoft.com/office/drawing/2014/main" id="{5D2E9270-E0D4-EFE2-6A7B-96B7C1C3F8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6725" y="892416"/>
            <a:ext cx="8426450" cy="5632311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Environmental challenges such as air pollution, water contamination, and climate anomalies require continuous and accurate monitoring.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However, existing IoT-based monitoring systems face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 in sensor accuracy, reliability, and calibration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which reduce trust in the collected data and the generated alerts.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overcome these drawbacks, the proposed system integrates IoT sensors with cloud computing and applies calibration, error-handling, and Kalman filter techniques to improve sensor reliability. The system ensures: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Continuous real-time monitoring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Scalable data storage and analytics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 and accurate alert generation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Ultimately, this Cloud-IoT based solution enhances data reliability, enabling smarter decision-making for environmental protection.</a:t>
            </a:r>
          </a:p>
          <a:p>
            <a:pPr marL="342900" indent="-342900">
              <a:buFont typeface="Wingdings" panose="05000000000000000000" pitchFamily="2" charset="2"/>
              <a:buChar char="Ø"/>
              <a:defRPr/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 descr="D:\GITAM-GST-CSE\2024-25\Capstone-Project\GITAM-newlogo.jpeg">
            <a:extLst>
              <a:ext uri="{FF2B5EF4-FFF2-40B4-BE49-F238E27FC236}">
                <a16:creationId xmlns:a16="http://schemas.microsoft.com/office/drawing/2014/main" id="{B5DD05DB-0F3B-5BF8-6A17-BA211A8F18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04025" y="-26988"/>
            <a:ext cx="2339975" cy="9620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219" name="Rectangle 2">
            <a:extLst>
              <a:ext uri="{FF2B5EF4-FFF2-40B4-BE49-F238E27FC236}">
                <a16:creationId xmlns:a16="http://schemas.microsoft.com/office/drawing/2014/main" id="{00DDDCF2-4B75-57CD-A616-99DA18A258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71775" y="312738"/>
            <a:ext cx="2736850" cy="5238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en-IN" altLang="en-US" sz="2800" b="1" dirty="0">
                <a:solidFill>
                  <a:srgbClr val="0070C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   Introduction</a:t>
            </a:r>
          </a:p>
        </p:txBody>
      </p:sp>
      <p:sp>
        <p:nvSpPr>
          <p:cNvPr id="8196" name="Rectangle 4">
            <a:extLst>
              <a:ext uri="{FF2B5EF4-FFF2-40B4-BE49-F238E27FC236}">
                <a16:creationId xmlns:a16="http://schemas.microsoft.com/office/drawing/2014/main" id="{D70ABD1E-8DA1-0FFF-83BA-E9DC8354C485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468313" y="1255713"/>
            <a:ext cx="8567737" cy="4402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Environmental issues like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air pollution, water quality degradation, and climate anomalies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are increasing worldwide.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Char char="Ø"/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monitoring methods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are manual, slow, and lack real-time data analysis.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Char char="Ø"/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IoT sensors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enable continuous data collection of parameters such as air quality, temperature, humidity, and water quality.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Char char="Ø"/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integration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allows secure storage, large-scale analytics, and remote accessibility.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Char char="Ø"/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Cloud-IoT framework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provides real-time alerts for quick decision-making and preventive action.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 descr="D:\GITAM-GST-CSE\2024-25\Capstone-Project\GITAM-newlogo.jpeg">
            <a:extLst>
              <a:ext uri="{FF2B5EF4-FFF2-40B4-BE49-F238E27FC236}">
                <a16:creationId xmlns:a16="http://schemas.microsoft.com/office/drawing/2014/main" id="{ED934672-B813-A4B4-B84F-41043C4E60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04025" y="-26988"/>
            <a:ext cx="2339975" cy="9620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291" name="Rectangle 3">
            <a:extLst>
              <a:ext uri="{FF2B5EF4-FFF2-40B4-BE49-F238E27FC236}">
                <a16:creationId xmlns:a16="http://schemas.microsoft.com/office/drawing/2014/main" id="{CC234413-DF27-542E-CC9C-96E8706734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7313" y="377825"/>
            <a:ext cx="2938462" cy="523875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en-IN" altLang="en-US" sz="2800" b="1" dirty="0">
                <a:solidFill>
                  <a:srgbClr val="0070C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Literature Survey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13D5A142-6EDA-1422-88B4-769D812E32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3319773"/>
              </p:ext>
            </p:extLst>
          </p:nvPr>
        </p:nvGraphicFramePr>
        <p:xfrm>
          <a:off x="107950" y="1831975"/>
          <a:ext cx="8640763" cy="4531522"/>
        </p:xfrm>
        <a:graphic>
          <a:graphicData uri="http://schemas.openxmlformats.org/drawingml/2006/table">
            <a:tbl>
              <a:tblPr firstRow="1" firstCol="1" bandRow="1"/>
              <a:tblGrid>
                <a:gridCol w="8713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070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1802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5226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9212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804828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S. No.</a:t>
                      </a:r>
                      <a:endParaRPr lang="en-IN" sz="2000" b="1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79" marR="685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Paper Details</a:t>
                      </a:r>
                      <a:endParaRPr lang="en-IN" sz="2000" b="1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79" marR="685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IN" sz="2000" b="1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Summary</a:t>
                      </a:r>
                    </a:p>
                  </a:txBody>
                  <a:tcPr marL="68579" marR="685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Techniques/Algorithms</a:t>
                      </a:r>
                      <a:r>
                        <a:rPr lang="en-US" sz="2000" b="1" baseline="0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 Used</a:t>
                      </a:r>
                      <a:endParaRPr lang="en-IN" sz="2000" b="1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79" marR="685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IN" sz="2000" b="1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Research Gap</a:t>
                      </a:r>
                    </a:p>
                  </a:txBody>
                  <a:tcPr marL="68579" marR="685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71922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b="0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         1.</a:t>
                      </a:r>
                      <a:endParaRPr lang="en-IN" sz="1600" b="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79" marR="685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 </a:t>
                      </a:r>
                      <a:r>
                        <a:rPr lang="en-US" sz="16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Title: IoT-Based Smart Sensors for Environmental Pollution Detection and Control</a:t>
                      </a:r>
                    </a:p>
                    <a:p>
                      <a:r>
                        <a:rPr lang="en-US" sz="16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Conference: ICMRI 2025 (Stallion Journal)</a:t>
                      </a:r>
                    </a:p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endParaRPr lang="en-IN" sz="12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79" marR="685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b="1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 </a:t>
                      </a: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 paper proposes an </a:t>
                      </a:r>
                      <a:r>
                        <a:rPr lang="en-U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IoT-based smart sensor system</a:t>
                      </a: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for real-time monitoring of air and water pollution. It integrates sensors with cloud-based analytics, a mobile app for alerts, and automated control via purifiers/filters. Results show &gt;90% accuracy and &lt;5s response time.</a:t>
                      </a:r>
                      <a:endParaRPr lang="en-IN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79" marR="685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ESP32, Raspberry Pi, MQTT/HTTP, cloud analytics, regression models, threshold-based alerts.</a:t>
                      </a:r>
                      <a:endParaRPr lang="en-IN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79" marR="685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Sensor accuracy &amp; reliability issues, limited AI/ML, weak data validation/security, not scalable.</a:t>
                      </a:r>
                      <a:endParaRPr lang="en-IN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79" marR="685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9240" name="Rectangle 2">
            <a:extLst>
              <a:ext uri="{FF2B5EF4-FFF2-40B4-BE49-F238E27FC236}">
                <a16:creationId xmlns:a16="http://schemas.microsoft.com/office/drawing/2014/main" id="{73D1E84B-FDED-1EC7-1B2A-DE02370882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7313" y="1166813"/>
            <a:ext cx="3313112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Table 1: Literature Survey</a:t>
            </a:r>
            <a:endParaRPr lang="en-US" altLang="en-US" sz="1100" b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 descr="D:\GITAM-GST-CSE\2024-25\Capstone-Project\GITAM-newlogo.jpeg">
            <a:extLst>
              <a:ext uri="{FF2B5EF4-FFF2-40B4-BE49-F238E27FC236}">
                <a16:creationId xmlns:a16="http://schemas.microsoft.com/office/drawing/2014/main" id="{7B97502A-9876-165E-1E18-7269E450B8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04025" y="-26988"/>
            <a:ext cx="2339975" cy="9620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315" name="Rectangle 3">
            <a:extLst>
              <a:ext uri="{FF2B5EF4-FFF2-40B4-BE49-F238E27FC236}">
                <a16:creationId xmlns:a16="http://schemas.microsoft.com/office/drawing/2014/main" id="{A06FE5B6-FAFB-1E81-4148-BACEC04489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79613" y="333375"/>
            <a:ext cx="4157662" cy="52228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  <a:defRPr/>
            </a:pPr>
            <a:r>
              <a:rPr lang="en-IN" altLang="en-US" sz="2800" b="1" dirty="0">
                <a:solidFill>
                  <a:srgbClr val="0070C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Literature Survey…</a:t>
            </a:r>
            <a:r>
              <a:rPr lang="en-IN" altLang="en-US" sz="2800" b="1" dirty="0" err="1">
                <a:solidFill>
                  <a:srgbClr val="0070C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contd</a:t>
            </a:r>
            <a:endParaRPr lang="en-IN" altLang="en-US" sz="2800" b="1" dirty="0">
              <a:solidFill>
                <a:srgbClr val="0070C0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10244" name="Rectangle 2">
            <a:extLst>
              <a:ext uri="{FF2B5EF4-FFF2-40B4-BE49-F238E27FC236}">
                <a16:creationId xmlns:a16="http://schemas.microsoft.com/office/drawing/2014/main" id="{877262DD-CEDC-DB7A-0756-2FC93DCB2E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79613" y="1177895"/>
            <a:ext cx="4519612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Table 1: Literature Survey </a:t>
            </a:r>
            <a:r>
              <a:rPr lang="en-US" altLang="en-US" sz="20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Contd</a:t>
            </a:r>
            <a:r>
              <a:rPr lang="en-US" altLang="en-US" sz="2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…</a:t>
            </a:r>
            <a:endParaRPr lang="en-US" altLang="en-US" sz="1100" b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51510109-2626-22D8-66E1-D452367F66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3855461"/>
              </p:ext>
            </p:extLst>
          </p:nvPr>
        </p:nvGraphicFramePr>
        <p:xfrm>
          <a:off x="539750" y="2060575"/>
          <a:ext cx="8208963" cy="4608513"/>
        </p:xfrm>
        <a:graphic>
          <a:graphicData uri="http://schemas.openxmlformats.org/drawingml/2006/table">
            <a:tbl>
              <a:tblPr firstRow="1" firstCol="1" bandRow="1"/>
              <a:tblGrid>
                <a:gridCol w="11820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302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116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5970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9257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404575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S. No.</a:t>
                      </a:r>
                      <a:endParaRPr lang="en-IN" sz="2000" b="1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8" marR="6858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Paper Details</a:t>
                      </a:r>
                      <a:endParaRPr lang="en-IN" sz="2000" b="1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8" marR="6858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IN" sz="2000" b="1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Summary</a:t>
                      </a:r>
                    </a:p>
                  </a:txBody>
                  <a:tcPr marL="68588" marR="6858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Techniques/Algorithms</a:t>
                      </a:r>
                      <a:r>
                        <a:rPr lang="en-US" sz="2000" b="1" baseline="0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 Used</a:t>
                      </a:r>
                      <a:endParaRPr lang="en-IN" sz="2000" b="1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8" marR="6858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IN" sz="2000" b="1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Research Gap</a:t>
                      </a:r>
                    </a:p>
                  </a:txBody>
                  <a:tcPr marL="68588" marR="6858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3938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b="0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         2.</a:t>
                      </a:r>
                      <a:endParaRPr lang="en-IN" sz="1600" b="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8" marR="6858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b="1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 </a:t>
                      </a: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Shah et al., 2023 – Multiutility Environment Monitoring System</a:t>
                      </a:r>
                      <a:endParaRPr lang="en-IN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8" marR="6858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b="1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 </a:t>
                      </a:r>
                      <a:r>
                        <a:rPr lang="en-US" sz="1600" b="0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I</a:t>
                      </a:r>
                      <a:r>
                        <a:rPr lang="en-IN" sz="1600" b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oT</a:t>
                      </a:r>
                      <a:r>
                        <a:rPr lang="en-IN" sz="16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-based monitoring for hospitals; temp, humidity, air quality, pressure, altitude, fire; real-time alerts via Telegram, Blynk, cloud; OTA updates</a:t>
                      </a:r>
                      <a:endParaRPr lang="en-IN" sz="1600" b="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8" marR="6858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ESP-32, DHT-22, BMP-180, MQ135, IR sensor; Arduino IDE; firmware processing (AQI, heat index); real-time alerting</a:t>
                      </a:r>
                      <a:endParaRPr lang="en-IN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8" marR="6858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Limited to hospitals; sensor drift not handled; no AI/ML; weak security; not integrated with broader environmental systems</a:t>
                      </a:r>
                      <a:endParaRPr lang="en-IN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8" marR="6858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 descr="D:\GITAM-GST-CSE\2024-25\Capstone-Project\GITAM-newlogo.jpeg">
            <a:extLst>
              <a:ext uri="{FF2B5EF4-FFF2-40B4-BE49-F238E27FC236}">
                <a16:creationId xmlns:a16="http://schemas.microsoft.com/office/drawing/2014/main" id="{B87CBDC1-2F90-C8F2-E01F-92B9497772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04025" y="-26988"/>
            <a:ext cx="2339975" cy="9620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315" name="Rectangle 3">
            <a:extLst>
              <a:ext uri="{FF2B5EF4-FFF2-40B4-BE49-F238E27FC236}">
                <a16:creationId xmlns:a16="http://schemas.microsoft.com/office/drawing/2014/main" id="{C79D01FE-844B-5437-2905-078068380C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79613" y="333375"/>
            <a:ext cx="3925887" cy="523875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  <a:defRPr/>
            </a:pPr>
            <a:r>
              <a:rPr lang="en-IN" altLang="en-US" sz="2800" b="1" dirty="0">
                <a:solidFill>
                  <a:srgbClr val="0070C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          Literature Survey</a:t>
            </a:r>
          </a:p>
        </p:txBody>
      </p:sp>
      <p:sp>
        <p:nvSpPr>
          <p:cNvPr id="11268" name="Rectangle 2">
            <a:extLst>
              <a:ext uri="{FF2B5EF4-FFF2-40B4-BE49-F238E27FC236}">
                <a16:creationId xmlns:a16="http://schemas.microsoft.com/office/drawing/2014/main" id="{A800419F-8DB5-EB32-74E1-64F3407FB7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76550" y="935038"/>
            <a:ext cx="3160713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Table 2: Literature Survey </a:t>
            </a:r>
            <a:endParaRPr lang="en-US" altLang="en-US" sz="1100" b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05B0D27D-991B-1814-8813-9DEC28345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3981230"/>
              </p:ext>
            </p:extLst>
          </p:nvPr>
        </p:nvGraphicFramePr>
        <p:xfrm>
          <a:off x="395288" y="1335088"/>
          <a:ext cx="8353425" cy="5209110"/>
        </p:xfrm>
        <a:graphic>
          <a:graphicData uri="http://schemas.openxmlformats.org/drawingml/2006/table">
            <a:tbl>
              <a:tblPr firstRow="1" firstCol="1" bandRow="1"/>
              <a:tblGrid>
                <a:gridCol w="6086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94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528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8664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2588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87627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S. No.</a:t>
                      </a:r>
                      <a:endParaRPr lang="en-IN" sz="2000" b="1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92" marR="6859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Paper Details</a:t>
                      </a:r>
                      <a:endParaRPr lang="en-IN" sz="2000" b="1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92" marR="6859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IN" sz="2000" b="1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Summary</a:t>
                      </a:r>
                    </a:p>
                  </a:txBody>
                  <a:tcPr marL="68592" marR="6859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Techniques/Algorithms</a:t>
                      </a:r>
                      <a:r>
                        <a:rPr lang="en-US" sz="2000" b="1" baseline="0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 Used</a:t>
                      </a:r>
                      <a:endParaRPr lang="en-IN" sz="2000" b="1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92" marR="6859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IN" sz="2000" b="1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Research Gap</a:t>
                      </a:r>
                    </a:p>
                  </a:txBody>
                  <a:tcPr marL="68592" marR="6859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4951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b="0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 1.</a:t>
                      </a:r>
                      <a:endParaRPr lang="en-IN" sz="1600" b="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92" marR="6859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 </a:t>
                      </a:r>
                      <a:r>
                        <a:rPr lang="en-US" sz="1600" b="1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</a:t>
                      </a:r>
                      <a:r>
                        <a:rPr lang="en-US" sz="16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 IoT enabled Environmental Air Pollution Monitoring and Rerouting system using Machine learning algorithms</a:t>
                      </a:r>
                    </a:p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IOP Conference Series: Materials Science and Engineering, Vol. 955 (2020), 012005.</a:t>
                      </a:r>
                      <a:endParaRPr lang="en-IN" sz="1600" i="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92" marR="6859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b="1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 </a:t>
                      </a: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 paper proposes an IoT-based cloud system with ML algorithms to monitor, predict, and reroute travelers in real time based on air quality levels.</a:t>
                      </a:r>
                      <a:endParaRPr lang="en-IN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92" marR="6859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Uses IoT sensors, NB-IoT communication, MQTT cloud integration, AQI calculation, MLP Neural Networks, SVM Regression, and Google Maps API for rerouting.</a:t>
                      </a:r>
                      <a:endParaRPr lang="en-IN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92" marR="6859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Existing systems only monitor or predict air quality, while this work uniquely combines real-time monitoring, prediction, and rerouting in a unified framework.</a:t>
                      </a:r>
                      <a:endParaRPr lang="en-IN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92" marR="6859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1289" name="TextBox 1">
            <a:extLst>
              <a:ext uri="{FF2B5EF4-FFF2-40B4-BE49-F238E27FC236}">
                <a16:creationId xmlns:a16="http://schemas.microsoft.com/office/drawing/2014/main" id="{405044A7-97FB-9E5F-662A-E487E391BA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79613" y="4437063"/>
            <a:ext cx="18415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IN" altLang="en-US" sz="18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 descr="D:\GITAM-GST-CSE\2024-25\Capstone-Project\GITAM-newlogo.jpeg">
            <a:extLst>
              <a:ext uri="{FF2B5EF4-FFF2-40B4-BE49-F238E27FC236}">
                <a16:creationId xmlns:a16="http://schemas.microsoft.com/office/drawing/2014/main" id="{B9AFE906-B58B-3F2F-F6C2-96B47881F4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04025" y="-26988"/>
            <a:ext cx="2339975" cy="9620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315" name="Rectangle 3">
            <a:extLst>
              <a:ext uri="{FF2B5EF4-FFF2-40B4-BE49-F238E27FC236}">
                <a16:creationId xmlns:a16="http://schemas.microsoft.com/office/drawing/2014/main" id="{C0D869E4-176F-42C4-2C04-87068915AB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79613" y="333375"/>
            <a:ext cx="4157662" cy="52228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  <a:defRPr/>
            </a:pPr>
            <a:r>
              <a:rPr lang="en-IN" altLang="en-US" sz="2800" b="1" dirty="0">
                <a:solidFill>
                  <a:srgbClr val="0070C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Literature Survey…</a:t>
            </a:r>
            <a:r>
              <a:rPr lang="en-IN" altLang="en-US" sz="2800" b="1" dirty="0" err="1">
                <a:solidFill>
                  <a:srgbClr val="0070C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contd</a:t>
            </a:r>
            <a:endParaRPr lang="en-IN" altLang="en-US" sz="2800" b="1" dirty="0">
              <a:solidFill>
                <a:srgbClr val="0070C0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12292" name="Rectangle 2">
            <a:extLst>
              <a:ext uri="{FF2B5EF4-FFF2-40B4-BE49-F238E27FC236}">
                <a16:creationId xmlns:a16="http://schemas.microsoft.com/office/drawing/2014/main" id="{0BF861F3-9E95-5A84-3BCF-2786E5553C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68538" y="995363"/>
            <a:ext cx="4098925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Table 2: Literature Survey </a:t>
            </a:r>
            <a:r>
              <a:rPr lang="en-US" altLang="en-US" sz="20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Contd</a:t>
            </a:r>
            <a:r>
              <a:rPr lang="en-US" altLang="en-US" sz="2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…</a:t>
            </a:r>
            <a:endParaRPr lang="en-US" altLang="en-US" sz="1100" b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95A3974C-7B4C-6484-433F-B82B09714D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6809239"/>
              </p:ext>
            </p:extLst>
          </p:nvPr>
        </p:nvGraphicFramePr>
        <p:xfrm>
          <a:off x="358775" y="1535113"/>
          <a:ext cx="8426449" cy="4953000"/>
        </p:xfrm>
        <a:graphic>
          <a:graphicData uri="http://schemas.openxmlformats.org/drawingml/2006/table">
            <a:tbl>
              <a:tblPr firstRow="1" firstCol="1" bandRow="1"/>
              <a:tblGrid>
                <a:gridCol w="6481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616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354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3845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4271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297778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S. No.</a:t>
                      </a:r>
                      <a:endParaRPr lang="en-IN" sz="2000" b="1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600" marR="6860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Paper Details</a:t>
                      </a:r>
                      <a:endParaRPr lang="en-IN" sz="2000" b="1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600" marR="6860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IN" sz="2000" b="1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Summary</a:t>
                      </a:r>
                    </a:p>
                  </a:txBody>
                  <a:tcPr marL="68600" marR="6860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Techniques/Algorithms</a:t>
                      </a:r>
                      <a:r>
                        <a:rPr lang="en-US" sz="2000" b="1" baseline="0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 Used</a:t>
                      </a:r>
                      <a:endParaRPr lang="en-IN" sz="2000" b="1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600" marR="6860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IN" sz="2000" b="1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Research Gap</a:t>
                      </a:r>
                    </a:p>
                  </a:txBody>
                  <a:tcPr marL="68600" marR="6860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5222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b="0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 2.</a:t>
                      </a:r>
                      <a:endParaRPr lang="en-IN" sz="1600" b="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600" marR="6860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 </a:t>
                      </a:r>
                      <a:r>
                        <a:rPr lang="en-IN" sz="1600" b="1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</a:t>
                      </a:r>
                      <a:r>
                        <a:rPr lang="en-IN" sz="16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 IoT based Environmental Monitoring System</a:t>
                      </a:r>
                    </a:p>
                    <a:p>
                      <a:r>
                        <a:rPr lang="en-IN" sz="1600" b="1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Authors</a:t>
                      </a:r>
                      <a:r>
                        <a:rPr lang="en-IN" sz="16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 Suhas Pandurang Nikam, Dr. S. M. Kulkarni</a:t>
                      </a:r>
                    </a:p>
                    <a:p>
                      <a:r>
                        <a:rPr lang="en-IN" sz="1600" b="1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Published in</a:t>
                      </a:r>
                      <a:r>
                        <a:rPr lang="en-IN" sz="16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 International Journal of Engineering Research &amp; Technology (IJERT), Vol. 10, Issue 06, June 2021</a:t>
                      </a:r>
                    </a:p>
                    <a:p>
                      <a:r>
                        <a:rPr lang="en-IN" sz="1600" b="1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ISSN</a:t>
                      </a:r>
                      <a:r>
                        <a:rPr lang="en-IN" sz="16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 2278-0181</a:t>
                      </a:r>
                    </a:p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endParaRPr lang="en-IN" sz="12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600" marR="6860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b="1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 </a:t>
                      </a: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Presents an IoT-based environmental monitoring system using wireless sensor networks to measure temperature, humidity, CO, and rain.</a:t>
                      </a:r>
                      <a:endParaRPr lang="en-IN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600" marR="6860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DHT11, MQ-7, FC-37 sensors, </a:t>
                      </a:r>
                      <a:r>
                        <a:rPr lang="en-IN" sz="1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NodeMCU</a:t>
                      </a: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Firebase cloud, Android App (“</a:t>
                      </a:r>
                      <a:r>
                        <a:rPr lang="en-IN" sz="1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eWeather</a:t>
                      </a: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”), WSN.</a:t>
                      </a:r>
                      <a:endParaRPr lang="en-IN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600" marR="6860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Existing solutions are costly and inflexible, while this focuses on a simple, low-cost, flexible, and real-time monitoring system</a:t>
                      </a:r>
                      <a:endParaRPr lang="en-IN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600" marR="6860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" descr="D:\GITAM-GST-CSE\2024-25\Capstone-Project\GITAM-newlogo.jpeg">
            <a:extLst>
              <a:ext uri="{FF2B5EF4-FFF2-40B4-BE49-F238E27FC236}">
                <a16:creationId xmlns:a16="http://schemas.microsoft.com/office/drawing/2014/main" id="{6C097C66-9DE4-4211-94D9-69F475D578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04025" y="-26988"/>
            <a:ext cx="2339975" cy="9620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315" name="Rectangle 3">
            <a:extLst>
              <a:ext uri="{FF2B5EF4-FFF2-40B4-BE49-F238E27FC236}">
                <a16:creationId xmlns:a16="http://schemas.microsoft.com/office/drawing/2014/main" id="{18ABB1F3-8093-BFB7-C442-6F739DF0D7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79613" y="333375"/>
            <a:ext cx="2938462" cy="523875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  <a:defRPr/>
            </a:pPr>
            <a:r>
              <a:rPr lang="en-IN" altLang="en-US" sz="2800" b="1" dirty="0">
                <a:solidFill>
                  <a:srgbClr val="0070C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Literature Survey</a:t>
            </a:r>
          </a:p>
        </p:txBody>
      </p:sp>
      <p:sp>
        <p:nvSpPr>
          <p:cNvPr id="13316" name="Rectangle 2">
            <a:extLst>
              <a:ext uri="{FF2B5EF4-FFF2-40B4-BE49-F238E27FC236}">
                <a16:creationId xmlns:a16="http://schemas.microsoft.com/office/drawing/2014/main" id="{5F5AE895-29C3-1316-851B-AF0F9D5A94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43213" y="868363"/>
            <a:ext cx="3160712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 b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Table 3: Literature Survey </a:t>
            </a:r>
            <a:endParaRPr lang="en-US" altLang="en-US" sz="1100" b="1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9ED7194B-D6D5-80E3-5E35-C070E506BE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5056222"/>
              </p:ext>
            </p:extLst>
          </p:nvPr>
        </p:nvGraphicFramePr>
        <p:xfrm>
          <a:off x="468313" y="1341438"/>
          <a:ext cx="8280399" cy="5246727"/>
        </p:xfrm>
        <a:graphic>
          <a:graphicData uri="http://schemas.openxmlformats.org/drawingml/2006/table">
            <a:tbl>
              <a:tblPr firstRow="1" firstCol="1" bandRow="1"/>
              <a:tblGrid>
                <a:gridCol w="6480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182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300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99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4409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97635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S. No.</a:t>
                      </a:r>
                      <a:endParaRPr lang="en-IN" sz="2000" b="1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4" marR="6858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Paper Details</a:t>
                      </a:r>
                      <a:endParaRPr lang="en-IN" sz="2000" b="1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4" marR="6858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IN" sz="2000" b="1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Summary</a:t>
                      </a:r>
                    </a:p>
                  </a:txBody>
                  <a:tcPr marL="68584" marR="6858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Techniques/Algorithms</a:t>
                      </a:r>
                      <a:r>
                        <a:rPr lang="en-US" sz="2000" b="1" baseline="0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 Used</a:t>
                      </a:r>
                      <a:endParaRPr lang="en-IN" sz="2000" b="1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4" marR="6858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IN" sz="2000" b="1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Research Gap</a:t>
                      </a:r>
                    </a:p>
                  </a:txBody>
                  <a:tcPr marL="68584" marR="6858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7127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b="0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 1.</a:t>
                      </a:r>
                      <a:endParaRPr lang="en-IN" sz="1600" b="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4" marR="6858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 </a:t>
                      </a:r>
                      <a:r>
                        <a:rPr lang="en-US" sz="1600" b="1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</a:t>
                      </a:r>
                      <a:r>
                        <a:rPr lang="en-US" sz="16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 Smart IoT Based Air Pollution Monitoring System</a:t>
                      </a:r>
                    </a:p>
                    <a:p>
                      <a:r>
                        <a:rPr lang="en-US" sz="1600" b="1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Authors</a:t>
                      </a:r>
                      <a:r>
                        <a:rPr lang="en-US" sz="16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 (from the uploaded file, likely listed in first page – I can extract them if you want me to pull exact names)</a:t>
                      </a:r>
                    </a:p>
                    <a:p>
                      <a:r>
                        <a:rPr lang="en-US" sz="1600" b="1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Published in</a:t>
                      </a:r>
                      <a:r>
                        <a:rPr lang="en-US" sz="16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 2022 (conference/journal details available in the PDF)</a:t>
                      </a:r>
                    </a:p>
                    <a:p>
                      <a:r>
                        <a:rPr lang="en-US" sz="1600" b="1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ISSN/DOI</a:t>
                      </a:r>
                      <a:r>
                        <a:rPr lang="en-US" sz="16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 (noted in the paper – can be extracted if needed)</a:t>
                      </a:r>
                    </a:p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endParaRPr lang="en-IN" sz="12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4" marR="6858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b="1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 </a:t>
                      </a: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Develops a smart IoT-based air pollution monitoring system that collects sensor data and sends it to the cloud for real-time analysis and alerts.</a:t>
                      </a:r>
                      <a:endParaRPr lang="en-IN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4" marR="6858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Arduino/</a:t>
                      </a:r>
                      <a:r>
                        <a:rPr lang="en-IN" sz="1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NodeMCU</a:t>
                      </a: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MQ-series sensors, IoT cloud, mobile/web interfaces for visualization.</a:t>
                      </a:r>
                      <a:endParaRPr lang="en-IN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4" marR="6858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Traditional monitoring lacks real-time accessibility and smart integration, which this system addresses with IoT and cloud-based solutions.</a:t>
                      </a:r>
                      <a:endParaRPr lang="en-IN" sz="1600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84" marR="6858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2" descr="D:\GITAM-GST-CSE\2024-25\Capstone-Project\GITAM-newlogo.jpeg">
            <a:extLst>
              <a:ext uri="{FF2B5EF4-FFF2-40B4-BE49-F238E27FC236}">
                <a16:creationId xmlns:a16="http://schemas.microsoft.com/office/drawing/2014/main" id="{A54D429B-1187-B1F7-D853-C5F9C202BC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04025" y="-26988"/>
            <a:ext cx="2339975" cy="9620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315" name="Rectangle 3">
            <a:extLst>
              <a:ext uri="{FF2B5EF4-FFF2-40B4-BE49-F238E27FC236}">
                <a16:creationId xmlns:a16="http://schemas.microsoft.com/office/drawing/2014/main" id="{1362B3BA-0D4A-D2F2-89EC-FA2EE8D440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79613" y="333375"/>
            <a:ext cx="4157662" cy="52228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  <a:defRPr/>
            </a:pPr>
            <a:r>
              <a:rPr lang="en-IN" altLang="en-US" sz="2800" b="1" dirty="0">
                <a:solidFill>
                  <a:srgbClr val="0070C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Literature Survey…</a:t>
            </a:r>
            <a:r>
              <a:rPr lang="en-IN" altLang="en-US" sz="2800" b="1" dirty="0" err="1">
                <a:solidFill>
                  <a:srgbClr val="0070C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contd</a:t>
            </a:r>
            <a:endParaRPr lang="en-IN" altLang="en-US" sz="2800" b="1" dirty="0">
              <a:solidFill>
                <a:srgbClr val="0070C0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14340" name="Rectangle 2">
            <a:extLst>
              <a:ext uri="{FF2B5EF4-FFF2-40B4-BE49-F238E27FC236}">
                <a16:creationId xmlns:a16="http://schemas.microsoft.com/office/drawing/2014/main" id="{775CD3E8-76A0-FA89-ECEA-6EEFE739C5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39975" y="1062038"/>
            <a:ext cx="4100513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 b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Table 3: Literature Survey Contd…</a:t>
            </a:r>
            <a:endParaRPr lang="en-US" altLang="en-US" sz="1100" b="1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D97FA6CC-1196-38E7-208B-5250C31196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959343"/>
              </p:ext>
            </p:extLst>
          </p:nvPr>
        </p:nvGraphicFramePr>
        <p:xfrm>
          <a:off x="357188" y="1668463"/>
          <a:ext cx="8066086" cy="4668837"/>
        </p:xfrm>
        <a:graphic>
          <a:graphicData uri="http://schemas.openxmlformats.org/drawingml/2006/table">
            <a:tbl>
              <a:tblPr firstRow="1" firstCol="1" bandRow="1"/>
              <a:tblGrid>
                <a:gridCol w="6033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990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7489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290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5963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257351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S. No.</a:t>
                      </a:r>
                      <a:endParaRPr lang="en-IN" sz="2000" b="1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95" marR="6859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Paper Details</a:t>
                      </a:r>
                      <a:endParaRPr lang="en-IN" sz="2000" b="1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95" marR="6859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IN" sz="2000" b="1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Summary</a:t>
                      </a:r>
                    </a:p>
                  </a:txBody>
                  <a:tcPr marL="68595" marR="6859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Techniques/Algorithms</a:t>
                      </a:r>
                      <a:r>
                        <a:rPr lang="en-US" sz="2000" b="1" baseline="0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 Used</a:t>
                      </a:r>
                      <a:endParaRPr lang="en-IN" sz="2000" b="1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95" marR="6859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IN" sz="2000" b="1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Research Gap</a:t>
                      </a:r>
                    </a:p>
                  </a:txBody>
                  <a:tcPr marL="68595" marR="6859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11486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b="0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 2.</a:t>
                      </a:r>
                      <a:endParaRPr lang="en-IN" sz="1600" b="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95" marR="6859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 </a:t>
                      </a:r>
                      <a:r>
                        <a:rPr lang="en-US" sz="1600" b="1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</a:t>
                      </a:r>
                      <a:r>
                        <a:rPr lang="en-US" sz="16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 Advances in Real-time Smart Monitoring of Environmental Parameters using IoT and Sensors</a:t>
                      </a:r>
                    </a:p>
                    <a:p>
                      <a:r>
                        <a:rPr lang="en-US" sz="1600" b="1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Journal</a:t>
                      </a:r>
                      <a:r>
                        <a:rPr lang="en-US" sz="16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 </a:t>
                      </a:r>
                      <a:r>
                        <a:rPr lang="en-US" sz="1600" i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Heliyon</a:t>
                      </a:r>
                      <a:r>
                        <a:rPr lang="en-US" sz="16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(Elsevier)</a:t>
                      </a:r>
                    </a:p>
                    <a:p>
                      <a:r>
                        <a:rPr lang="en-US" sz="1600" b="1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Volume/Issue</a:t>
                      </a:r>
                      <a:r>
                        <a:rPr lang="en-US" sz="16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 </a:t>
                      </a:r>
                      <a:r>
                        <a:rPr lang="en-US" sz="1600" i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Heliyon</a:t>
                      </a:r>
                      <a:r>
                        <a:rPr lang="en-US" sz="16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10 (2024) e28195</a:t>
                      </a:r>
                    </a:p>
                    <a:p>
                      <a:r>
                        <a:rPr lang="en-US" sz="1600" b="1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Published Online</a:t>
                      </a:r>
                      <a:r>
                        <a:rPr lang="en-US" sz="16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 20 March 2024</a:t>
                      </a:r>
                    </a:p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endParaRPr lang="en-IN" sz="12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95" marR="6859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 </a:t>
                      </a: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Smart weather/environment station using Arduino Uno with multi-sensors, GSM/Wi-Fi, and web/cloud dashboards.</a:t>
                      </a:r>
                      <a:endParaRPr lang="en-IN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95" marR="6859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Four-layer IoT architecture, HTTP webpage, Arduino libraries, TLS-secured cloud communication.</a:t>
                      </a:r>
                      <a:endParaRPr lang="en-IN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95" marR="6859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Power efficiency, limited predictive capability, accuracy calibration issues.</a:t>
                      </a:r>
                      <a:endParaRPr lang="en-IN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95" marR="6859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2" descr="D:\GITAM-GST-CSE\2024-25\Capstone-Project\GITAM-newlogo.jpeg">
            <a:extLst>
              <a:ext uri="{FF2B5EF4-FFF2-40B4-BE49-F238E27FC236}">
                <a16:creationId xmlns:a16="http://schemas.microsoft.com/office/drawing/2014/main" id="{E81D1BE7-09F3-EF3A-8743-C26FE07162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04025" y="-26988"/>
            <a:ext cx="2339975" cy="9620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315" name="Rectangle 3">
            <a:extLst>
              <a:ext uri="{FF2B5EF4-FFF2-40B4-BE49-F238E27FC236}">
                <a16:creationId xmlns:a16="http://schemas.microsoft.com/office/drawing/2014/main" id="{4ADB06C7-5C15-B92A-E710-C12627268C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79613" y="333375"/>
            <a:ext cx="4157662" cy="52228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  <a:defRPr/>
            </a:pPr>
            <a:r>
              <a:rPr lang="en-IN" altLang="en-US" sz="2800" b="1" dirty="0">
                <a:solidFill>
                  <a:srgbClr val="0070C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Literature Survey…</a:t>
            </a:r>
            <a:r>
              <a:rPr lang="en-IN" altLang="en-US" sz="2800" b="1" dirty="0" err="1">
                <a:solidFill>
                  <a:srgbClr val="0070C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contd</a:t>
            </a:r>
            <a:endParaRPr lang="en-IN" altLang="en-US" sz="2800" b="1" dirty="0">
              <a:solidFill>
                <a:srgbClr val="0070C0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15364" name="Rectangle 2">
            <a:extLst>
              <a:ext uri="{FF2B5EF4-FFF2-40B4-BE49-F238E27FC236}">
                <a16:creationId xmlns:a16="http://schemas.microsoft.com/office/drawing/2014/main" id="{2AFDEDEF-3EA7-A8F7-5D3F-BFB07B2619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78088" y="1169988"/>
            <a:ext cx="3160712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Table 4: Literature Survey </a:t>
            </a:r>
            <a:endParaRPr lang="en-US" altLang="en-US" sz="1100" b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7F642712-FDDC-7EAE-24F6-1018A2804F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2238851"/>
              </p:ext>
            </p:extLst>
          </p:nvPr>
        </p:nvGraphicFramePr>
        <p:xfrm>
          <a:off x="395288" y="2205038"/>
          <a:ext cx="7921626" cy="4287869"/>
        </p:xfrm>
        <a:graphic>
          <a:graphicData uri="http://schemas.openxmlformats.org/drawingml/2006/table">
            <a:tbl>
              <a:tblPr firstRow="1" firstCol="1" bandRow="1"/>
              <a:tblGrid>
                <a:gridCol w="11403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88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378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9819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264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080231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S. No.</a:t>
                      </a:r>
                      <a:endParaRPr lang="en-IN" sz="2000" b="1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90" marR="6859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Paper Details</a:t>
                      </a:r>
                      <a:endParaRPr lang="en-IN" sz="2000" b="1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90" marR="6859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IN" sz="2000" b="1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Summary</a:t>
                      </a:r>
                    </a:p>
                  </a:txBody>
                  <a:tcPr marL="68590" marR="6859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Techniques/Algorithms</a:t>
                      </a:r>
                      <a:r>
                        <a:rPr lang="en-US" sz="2000" b="1" baseline="0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 Used</a:t>
                      </a:r>
                      <a:endParaRPr lang="en-IN" sz="2000" b="1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90" marR="6859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IN" sz="2000" b="1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Research Gap</a:t>
                      </a:r>
                    </a:p>
                  </a:txBody>
                  <a:tcPr marL="68590" marR="6859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71069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b="0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 1.</a:t>
                      </a:r>
                      <a:endParaRPr lang="en-IN" sz="1600" b="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90" marR="6859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b="1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 </a:t>
                      </a:r>
                      <a:r>
                        <a:rPr lang="en-US" sz="1600" i="0" u="none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Jo et al., 2020 – IoT &amp; Cloud Computing for Indoor Air Quality</a:t>
                      </a:r>
                      <a:endParaRPr lang="en-IN" sz="1600" i="0" u="none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90" marR="6859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 </a:t>
                      </a: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Multi-device Smart-Air network; cloud server for analysis/visualization; verified with certified instruments.</a:t>
                      </a:r>
                      <a:endParaRPr lang="en-IN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90" marR="6859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IoT layers (perception, network, presentation), AWS EC2, LTE, web/app UI, reliability tests.</a:t>
                      </a:r>
                      <a:endParaRPr lang="en-IN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90" marR="6859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Small-scale test, LTE power-hungry, no AI/ML, no self-calibration, limited security &amp; interoperability.</a:t>
                      </a:r>
                      <a:endParaRPr lang="en-IN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90" marR="6859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2" descr="D:\GITAM-GST-CSE\2024-25\Capstone-Project\GITAM-newlogo.jpeg">
            <a:extLst>
              <a:ext uri="{FF2B5EF4-FFF2-40B4-BE49-F238E27FC236}">
                <a16:creationId xmlns:a16="http://schemas.microsoft.com/office/drawing/2014/main" id="{8AC5A5CB-12B0-ED38-FF6F-4665FD4087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04025" y="-26988"/>
            <a:ext cx="2339975" cy="9620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315" name="Rectangle 3">
            <a:extLst>
              <a:ext uri="{FF2B5EF4-FFF2-40B4-BE49-F238E27FC236}">
                <a16:creationId xmlns:a16="http://schemas.microsoft.com/office/drawing/2014/main" id="{8ED18336-13BA-F721-322C-2BA99667F5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79613" y="333375"/>
            <a:ext cx="4157662" cy="52228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  <a:defRPr/>
            </a:pPr>
            <a:r>
              <a:rPr lang="en-IN" altLang="en-US" sz="2800" b="1" dirty="0">
                <a:solidFill>
                  <a:srgbClr val="0070C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Literature Survey…</a:t>
            </a:r>
            <a:r>
              <a:rPr lang="en-IN" altLang="en-US" sz="2800" b="1" dirty="0" err="1">
                <a:solidFill>
                  <a:srgbClr val="0070C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contd</a:t>
            </a:r>
            <a:endParaRPr lang="en-IN" altLang="en-US" sz="2800" b="1" dirty="0">
              <a:solidFill>
                <a:srgbClr val="0070C0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16388" name="Rectangle 2">
            <a:extLst>
              <a:ext uri="{FF2B5EF4-FFF2-40B4-BE49-F238E27FC236}">
                <a16:creationId xmlns:a16="http://schemas.microsoft.com/office/drawing/2014/main" id="{579FB7A8-584C-006A-0A2B-19BC586C9C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79613" y="1272748"/>
            <a:ext cx="4519612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Table 4: Literature Survey </a:t>
            </a:r>
            <a:r>
              <a:rPr lang="en-US" altLang="en-US" sz="20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Contd</a:t>
            </a:r>
            <a:r>
              <a:rPr lang="en-US" altLang="en-US" sz="2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…</a:t>
            </a:r>
            <a:endParaRPr lang="en-US" altLang="en-US" sz="1100" b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CBE88499-5195-3CFA-7D58-10156E581A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9235468"/>
              </p:ext>
            </p:extLst>
          </p:nvPr>
        </p:nvGraphicFramePr>
        <p:xfrm>
          <a:off x="539750" y="2060575"/>
          <a:ext cx="7993063" cy="4494213"/>
        </p:xfrm>
        <a:graphic>
          <a:graphicData uri="http://schemas.openxmlformats.org/drawingml/2006/table">
            <a:tbl>
              <a:tblPr firstRow="1" firstCol="1" bandRow="1"/>
              <a:tblGrid>
                <a:gridCol w="11509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98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610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1342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428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245839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S. No.</a:t>
                      </a:r>
                      <a:endParaRPr lang="en-IN" sz="2000" b="1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90" marR="6859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Paper Details</a:t>
                      </a:r>
                      <a:endParaRPr lang="en-IN" sz="2000" b="1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90" marR="6859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IN" sz="2000" b="1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Summary</a:t>
                      </a:r>
                    </a:p>
                  </a:txBody>
                  <a:tcPr marL="68590" marR="6859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Techniques/Algorithms</a:t>
                      </a:r>
                      <a:r>
                        <a:rPr lang="en-US" sz="2000" b="1" baseline="0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 Used</a:t>
                      </a:r>
                      <a:endParaRPr lang="en-IN" sz="2000" b="1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90" marR="6859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IN" sz="2000" b="1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Research Gap</a:t>
                      </a:r>
                    </a:p>
                  </a:txBody>
                  <a:tcPr marL="68590" marR="6859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48374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b="0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           2.</a:t>
                      </a:r>
                      <a:endParaRPr lang="en-IN" sz="1600" b="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90" marR="6859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 </a:t>
                      </a:r>
                      <a:r>
                        <a:rPr lang="en-US" sz="16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Gopi C. et al., 2022 – Cloud-based Air Quality Monitoring through WSN using </a:t>
                      </a:r>
                      <a:r>
                        <a:rPr lang="en-US" sz="1600" i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NodeMCU</a:t>
                      </a:r>
                      <a:r>
                        <a:rPr lang="en-US" sz="16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(IJRASET)</a:t>
                      </a:r>
                      <a:endParaRPr lang="en-IN" sz="1600" i="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90" marR="6859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b="0" dirty="0">
                          <a:effectLst/>
                          <a:latin typeface="Times New Roman" panose="02020603050405020304" pitchFamily="18" charset="0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Industrial safety monitoring system combining air quality, vibration detection, and fire safety using </a:t>
                      </a:r>
                      <a:r>
                        <a:rPr lang="en-US" sz="1600" b="0" dirty="0" err="1">
                          <a:effectLst/>
                          <a:latin typeface="Times New Roman" panose="02020603050405020304" pitchFamily="18" charset="0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NodeMCU</a:t>
                      </a:r>
                      <a:r>
                        <a:rPr lang="en-US" sz="1600" b="0" dirty="0">
                          <a:effectLst/>
                          <a:latin typeface="Times New Roman" panose="02020603050405020304" pitchFamily="18" charset="0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 with </a:t>
                      </a:r>
                      <a:r>
                        <a:rPr lang="en-US" sz="1600" b="0" dirty="0" err="1">
                          <a:effectLst/>
                          <a:latin typeface="Times New Roman" panose="02020603050405020304" pitchFamily="18" charset="0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blynk</a:t>
                      </a:r>
                      <a:r>
                        <a:rPr lang="en-US" sz="1600" b="0" dirty="0">
                          <a:effectLst/>
                          <a:latin typeface="Times New Roman" panose="02020603050405020304" pitchFamily="18" charset="0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 app integration</a:t>
                      </a:r>
                      <a:endParaRPr lang="en-IN" sz="1600" b="0" dirty="0">
                        <a:effectLst/>
                        <a:latin typeface="Times New Roman" panose="02020603050405020304" pitchFamily="18" charset="0"/>
                        <a:ea typeface="Tahom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90" marR="6859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IN" sz="1600" dirty="0">
                          <a:effectLst/>
                          <a:latin typeface="Times New Roman" panose="02020603050405020304" pitchFamily="18" charset="0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 ESP8266 </a:t>
                      </a:r>
                      <a:r>
                        <a:rPr lang="en-IN" sz="1600" dirty="0" err="1">
                          <a:effectLst/>
                          <a:latin typeface="Times New Roman" panose="02020603050405020304" pitchFamily="18" charset="0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NodeMCU</a:t>
                      </a:r>
                      <a:r>
                        <a:rPr lang="en-IN" sz="1600" dirty="0">
                          <a:effectLst/>
                          <a:latin typeface="Times New Roman" panose="02020603050405020304" pitchFamily="18" charset="0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, MQ135 gas sensor, DHT11 sensor, Geophone sensor, Flame sensor, BLYNK IoT platform, </a:t>
                      </a:r>
                      <a:r>
                        <a:rPr lang="en-IN" sz="1600" dirty="0" err="1">
                          <a:effectLst/>
                          <a:latin typeface="Times New Roman" panose="02020603050405020304" pitchFamily="18" charset="0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WiFi</a:t>
                      </a:r>
                      <a:r>
                        <a:rPr lang="en-IN" sz="1600" dirty="0">
                          <a:effectLst/>
                          <a:latin typeface="Times New Roman" panose="02020603050405020304" pitchFamily="18" charset="0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 connectivity.</a:t>
                      </a:r>
                    </a:p>
                  </a:txBody>
                  <a:tcPr marL="68590" marR="6859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Limited to basic threshold-based alerts without predictive analytics or advanced data processing capabilities</a:t>
                      </a:r>
                      <a:endParaRPr lang="en-IN" sz="1600" dirty="0">
                        <a:effectLst/>
                        <a:latin typeface="Times New Roman" panose="02020603050405020304" pitchFamily="18" charset="0"/>
                        <a:ea typeface="Tahom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90" marR="6859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Picture 2" descr="D:\GITAM-GST-CSE\2024-25\Capstone-Project\GITAM-newlogo.jpeg">
            <a:extLst>
              <a:ext uri="{FF2B5EF4-FFF2-40B4-BE49-F238E27FC236}">
                <a16:creationId xmlns:a16="http://schemas.microsoft.com/office/drawing/2014/main" id="{92500A1C-3408-E7FC-6FAB-F0C4820219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04025" y="-26988"/>
            <a:ext cx="2339975" cy="9620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411" name="Rectangle 2">
            <a:extLst>
              <a:ext uri="{FF2B5EF4-FFF2-40B4-BE49-F238E27FC236}">
                <a16:creationId xmlns:a16="http://schemas.microsoft.com/office/drawing/2014/main" id="{8A2F4AC8-C66A-7119-6B3A-6654983B94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2275" y="1406525"/>
            <a:ext cx="82804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73025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en-US" sz="2000" b="1" i="1" u="sng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412" name="Title 1">
            <a:extLst>
              <a:ext uri="{FF2B5EF4-FFF2-40B4-BE49-F238E27FC236}">
                <a16:creationId xmlns:a16="http://schemas.microsoft.com/office/drawing/2014/main" id="{6EB988AD-7A79-CDC9-CE61-7CA2152799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Statements</a:t>
            </a:r>
            <a:endParaRPr lang="en-IN" altLang="en-US" sz="28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413" name="Rectangle 5">
            <a:extLst>
              <a:ext uri="{FF2B5EF4-FFF2-40B4-BE49-F238E27FC236}">
                <a16:creationId xmlns:a16="http://schemas.microsoft.com/office/drawing/2014/main" id="{8DE9E6A5-14D4-D596-61E8-6ED9FDA068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620838"/>
            <a:ext cx="8578850" cy="4400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Rising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air pollution, water contamination, and climate anomalies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demand continuous monitoring, but existing systems are limited.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Char char="Ø"/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monitoring approaches are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manual, slow, and lack real-time responsiveness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Char char="Ø"/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 IoT systems often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struggle with sensor accuracy, reliability, and calibration issues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Char char="Ø"/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Many solutions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 data but fail to provide timely alerts or automated actions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Char char="Ø"/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no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scalable, cloud-integrated system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 ensures reliable monitoring and intelligent alerting across diverse environments.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Picture 2" descr="D:\GITAM-GST-CSE\2024-25\Capstone-Project\GITAM-newlogo.jpeg">
            <a:extLst>
              <a:ext uri="{FF2B5EF4-FFF2-40B4-BE49-F238E27FC236}">
                <a16:creationId xmlns:a16="http://schemas.microsoft.com/office/drawing/2014/main" id="{B5A2E9EB-F750-1393-3753-14374300BC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04025" y="-26988"/>
            <a:ext cx="2339975" cy="9620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435" name="Title 1">
            <a:extLst>
              <a:ext uri="{FF2B5EF4-FFF2-40B4-BE49-F238E27FC236}">
                <a16:creationId xmlns:a16="http://schemas.microsoft.com/office/drawing/2014/main" id="{0494AC04-5424-6112-20BE-49A7DC030C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endParaRPr lang="en-IN" altLang="en-US" sz="28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FC187AA-19F8-7975-97FA-4C32B178F2DB}"/>
              </a:ext>
            </a:extLst>
          </p:cNvPr>
          <p:cNvSpPr txBox="1"/>
          <p:nvPr/>
        </p:nvSpPr>
        <p:spPr>
          <a:xfrm>
            <a:off x="250825" y="1236663"/>
            <a:ext cx="8893175" cy="501675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 Objective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design and develop a Cloud-IoT based intelligent system for real-time environmental monitoring and alerting that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addresses the drawback of sensor accuracy and reliability in existing methods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through calibration, error-handling, drift correction techniques, and the use of the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Kalman Filter algorithm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noise reduction and reliable data fusion.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Specific Objectives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Overcome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sensor accuracy and reliability issues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using calibration, error-handling, drift correction, and Kalman Filter.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 real-time data collection and monitoring using IoT-based sensors.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 with cloud platforms for scalable data storage, processing, and analytics.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 automated and accurate alert mechanisms (SMS, email, mobile notifications) for timely response.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8" name="Picture 2" descr="D:\GITAM-GST-CSE\2024-25\Capstone-Project\GITAM-newlogo.jpeg">
            <a:extLst>
              <a:ext uri="{FF2B5EF4-FFF2-40B4-BE49-F238E27FC236}">
                <a16:creationId xmlns:a16="http://schemas.microsoft.com/office/drawing/2014/main" id="{A266D522-0D3E-AD42-EFF2-1843AF4B74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04025" y="-26988"/>
            <a:ext cx="2339975" cy="9620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459" name="Title 1">
            <a:extLst>
              <a:ext uri="{FF2B5EF4-FFF2-40B4-BE49-F238E27FC236}">
                <a16:creationId xmlns:a16="http://schemas.microsoft.com/office/drawing/2014/main" id="{0C408CCE-1EDD-1EB8-D630-F28245306A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20713"/>
            <a:ext cx="8229600" cy="1143000"/>
          </a:xfrm>
        </p:spPr>
        <p:txBody>
          <a:bodyPr/>
          <a:lstStyle/>
          <a:p>
            <a:r>
              <a:rPr lang="en-US" altLang="en-US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 Breakdown &amp; Task Allocation</a:t>
            </a:r>
            <a:endParaRPr lang="en-IN" altLang="en-US" sz="28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22933D-3F43-6493-E114-35E1230D76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0825" y="1582738"/>
            <a:ext cx="8713788" cy="4870450"/>
          </a:xfrm>
        </p:spPr>
        <p:txBody>
          <a:bodyPr/>
          <a:lstStyle/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Lead</a:t>
            </a:r>
          </a:p>
          <a:p>
            <a:pPr>
              <a:buFont typeface="Wingdings" panose="05000000000000000000" pitchFamily="2" charset="2"/>
              <a:buChar char="Ø"/>
              <a:defRPr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Identification of the problem: Need for real-time environmental monitoring and alerting using Cloud-IoT.</a:t>
            </a:r>
          </a:p>
          <a:p>
            <a:pPr>
              <a:buFont typeface="Wingdings" panose="05000000000000000000" pitchFamily="2" charset="2"/>
              <a:buChar char="Ø"/>
              <a:defRPr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  <a:defRPr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Identification of tools/technology/algorithms: IoT sensors, cloud platforms (AWS/Azure), data preprocessing techniques, CNN/ML algorithms for anomaly detection.</a:t>
            </a:r>
          </a:p>
          <a:p>
            <a:pPr>
              <a:buFont typeface="Wingdings" panose="05000000000000000000" pitchFamily="2" charset="2"/>
              <a:buChar char="Ø"/>
              <a:defRPr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  <a:defRPr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Initial testing &amp; validation planning: Identify methods to verify sensor data accuracy and reliability.</a:t>
            </a:r>
          </a:p>
          <a:p>
            <a:pPr>
              <a:buFont typeface="Wingdings" panose="05000000000000000000" pitchFamily="2" charset="2"/>
              <a:buChar char="Ø"/>
              <a:defRPr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  <a:defRPr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Documentation: Problem statement, initial methodology draft, objectives outline.</a:t>
            </a:r>
          </a:p>
          <a:p>
            <a:pPr>
              <a:buFont typeface="Wingdings" panose="05000000000000000000" pitchFamily="2" charset="2"/>
              <a:buChar char="Ø"/>
              <a:defRPr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Presentation: Overview of project, methodology, main and specific objectives.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Arial" panose="020B0604020202020204" pitchFamily="34" charset="0"/>
              <a:buNone/>
              <a:defRPr/>
            </a:pP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2" name="Picture 2" descr="D:\GITAM-GST-CSE\2024-25\Capstone-Project\GITAM-newlogo.jpeg">
            <a:extLst>
              <a:ext uri="{FF2B5EF4-FFF2-40B4-BE49-F238E27FC236}">
                <a16:creationId xmlns:a16="http://schemas.microsoft.com/office/drawing/2014/main" id="{CAC4B7C5-78D8-6C5D-4E36-C3BCBB3276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04025" y="-26988"/>
            <a:ext cx="2339975" cy="9620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483" name="Title 1">
            <a:extLst>
              <a:ext uri="{FF2B5EF4-FFF2-40B4-BE49-F238E27FC236}">
                <a16:creationId xmlns:a16="http://schemas.microsoft.com/office/drawing/2014/main" id="{B96528A4-F98A-AA89-FC21-F64385E020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20713"/>
            <a:ext cx="8229600" cy="1143000"/>
          </a:xfrm>
        </p:spPr>
        <p:txBody>
          <a:bodyPr/>
          <a:lstStyle/>
          <a:p>
            <a:r>
              <a:rPr lang="en-US" altLang="en-US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 Breakdown &amp; Task Allocation</a:t>
            </a:r>
            <a:endParaRPr lang="en-IN" altLang="en-US" sz="28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484" name="Content Placeholder 2">
            <a:extLst>
              <a:ext uri="{FF2B5EF4-FFF2-40B4-BE49-F238E27FC236}">
                <a16:creationId xmlns:a16="http://schemas.microsoft.com/office/drawing/2014/main" id="{42DAD691-1E01-4BCE-4495-BD072FA58F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TM2</a:t>
            </a:r>
            <a:endParaRPr lang="en-I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485" name="Rectangle 1">
            <a:extLst>
              <a:ext uri="{FF2B5EF4-FFF2-40B4-BE49-F238E27FC236}">
                <a16:creationId xmlns:a16="http://schemas.microsoft.com/office/drawing/2014/main" id="{6DB31E1F-0B24-B5E0-59E9-772A258712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2133600"/>
            <a:ext cx="8713787" cy="4414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Preprocessing plan: Sensor data cleaning, noise reduction, normalization, calibration, and error-handling.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Char char="Ø"/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survey: Review papers (2020–2025), identify gaps in sensor reliability, data latency, and alerting mechanisms; proper citations.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Char char="Ø"/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Initial testing &amp; validation: Test preprocessing and calibration methods on sample data.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Char char="Ø"/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Documentation: Preprocessing plan, literature survey, research gaps, proposed improvements.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Char char="Ø"/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Presentation: Preprocessing techniques, literature survey summary, identified research gaps.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6" name="Picture 2" descr="D:\GITAM-GST-CSE\2024-25\Capstone-Project\GITAM-newlogo.jpeg">
            <a:extLst>
              <a:ext uri="{FF2B5EF4-FFF2-40B4-BE49-F238E27FC236}">
                <a16:creationId xmlns:a16="http://schemas.microsoft.com/office/drawing/2014/main" id="{2AF9C1CD-70B0-FCE1-4AD5-BC4C7CC7E2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04025" y="-26988"/>
            <a:ext cx="2339975" cy="9620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507" name="Title 1">
            <a:extLst>
              <a:ext uri="{FF2B5EF4-FFF2-40B4-BE49-F238E27FC236}">
                <a16:creationId xmlns:a16="http://schemas.microsoft.com/office/drawing/2014/main" id="{1496212A-B674-337B-D115-F386458F5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20713"/>
            <a:ext cx="8229600" cy="1143000"/>
          </a:xfrm>
        </p:spPr>
        <p:txBody>
          <a:bodyPr/>
          <a:lstStyle/>
          <a:p>
            <a:r>
              <a:rPr lang="en-US" altLang="en-US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 Breakdown &amp; Task Allocation</a:t>
            </a:r>
            <a:endParaRPr lang="en-IN" altLang="en-US" sz="28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508" name="Content Placeholder 2">
            <a:extLst>
              <a:ext uri="{FF2B5EF4-FFF2-40B4-BE49-F238E27FC236}">
                <a16:creationId xmlns:a16="http://schemas.microsoft.com/office/drawing/2014/main" id="{F539BFFD-6523-83FE-5639-DCEAD37B63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TM3</a:t>
            </a:r>
            <a:endParaRPr lang="en-I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509" name="Rectangle 1">
            <a:extLst>
              <a:ext uri="{FF2B5EF4-FFF2-40B4-BE49-F238E27FC236}">
                <a16:creationId xmlns:a16="http://schemas.microsoft.com/office/drawing/2014/main" id="{E8166491-ABC8-AAFE-2AE5-B0CB6F59B5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3213" y="1983254"/>
            <a:ext cx="8383587" cy="44012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marL="285750" indent="-28575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Requirement analysis: Datasets (air, water, climate), IoT hardware (sensors, microcontrollers), software and cloud tools, network and storage needs.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Char char="Ø"/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Comparing possible approaches: Evaluate ML/AI algorithms (CNN, LSTM, Random Forest), edge vs cloud processing for accuracy, reliability, and scalability.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Char char="Ø"/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Testing &amp; validation planning: Define performance metrics for ML models and cloud data flow.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Char char="Ø"/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Documentation: Requirements list, comparison table of approaches, justification of selected methods.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Char char="Ø"/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Presentation: Requirements overview and comparison of approaches.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30" name="Picture 2" descr="D:\GITAM-GST-CSE\2024-25\Capstone-Project\GITAM-newlogo.jpeg">
            <a:extLst>
              <a:ext uri="{FF2B5EF4-FFF2-40B4-BE49-F238E27FC236}">
                <a16:creationId xmlns:a16="http://schemas.microsoft.com/office/drawing/2014/main" id="{102BBDC6-2F8C-6563-B20D-5F5849C8D4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04025" y="-26988"/>
            <a:ext cx="2339975" cy="9620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531" name="Title 1">
            <a:extLst>
              <a:ext uri="{FF2B5EF4-FFF2-40B4-BE49-F238E27FC236}">
                <a16:creationId xmlns:a16="http://schemas.microsoft.com/office/drawing/2014/main" id="{1148F3E5-D2DD-F269-2354-FC280B0E85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52536" y="260648"/>
            <a:ext cx="8939336" cy="1503065"/>
          </a:xfrm>
        </p:spPr>
        <p:txBody>
          <a:bodyPr/>
          <a:lstStyle/>
          <a:p>
            <a:r>
              <a:rPr lang="en-US" altLang="en-US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 Breakdown &amp; Task Allocation</a:t>
            </a:r>
            <a:endParaRPr lang="en-IN" altLang="en-US" sz="28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532" name="Content Placeholder 2">
            <a:extLst>
              <a:ext uri="{FF2B5EF4-FFF2-40B4-BE49-F238E27FC236}">
                <a16:creationId xmlns:a16="http://schemas.microsoft.com/office/drawing/2014/main" id="{9C399CBD-A6F6-697A-5551-F3579D50AD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TM4</a:t>
            </a:r>
            <a:endParaRPr lang="en-I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533" name="Rectangle 1">
            <a:extLst>
              <a:ext uri="{FF2B5EF4-FFF2-40B4-BE49-F238E27FC236}">
                <a16:creationId xmlns:a16="http://schemas.microsoft.com/office/drawing/2014/main" id="{7159DC6A-DFB7-BA01-4BA7-CC3EC8C30C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2051350"/>
            <a:ext cx="8785101" cy="4892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 marL="285750" indent="-28575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strategy: Workflow diagrams (IoT → Cloud → Processing → Alerts), system architecture, database design, alert mechanism (SMS, email, app notifications).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Char char="Ø"/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Drafting objectives and project plan: Detailed project timeline, task allocation, milestones.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Char char="Ø"/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Testing &amp; validation: Implement initial system prototype and test real-time data collection, ML anomaly detection, and alert delivery.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Char char="Ø"/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Documentation: System design, workflow diagrams, objectives, initial project plan.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Char char="Ø"/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Presentation: System design overview, workflow, objectives, testing results, and project closure plan.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>
            <a:extLst>
              <a:ext uri="{FF2B5EF4-FFF2-40B4-BE49-F238E27FC236}">
                <a16:creationId xmlns:a16="http://schemas.microsoft.com/office/drawing/2014/main" id="{03DCA0A5-E0E6-46DC-E6CD-86527E5FE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06437"/>
          </a:xfrm>
        </p:spPr>
        <p:txBody>
          <a:bodyPr/>
          <a:lstStyle/>
          <a:p>
            <a:r>
              <a:rPr lang="en-IN" altLang="en-US" sz="2800" b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Timeline &amp; Milestones (Gantt Chart)</a:t>
            </a:r>
          </a:p>
        </p:txBody>
      </p:sp>
      <p:sp>
        <p:nvSpPr>
          <p:cNvPr id="23555" name="Slide Number Placeholder 3">
            <a:extLst>
              <a:ext uri="{FF2B5EF4-FFF2-40B4-BE49-F238E27FC236}">
                <a16:creationId xmlns:a16="http://schemas.microsoft.com/office/drawing/2014/main" id="{23E77675-F373-F1B9-B0EC-E3A3403C74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BFEF22A-B1AE-4AD1-A508-F7EA2785ADDF}" type="slidenum">
              <a:rPr lang="en-IN" altLang="en-US" sz="1200" smtClean="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19</a:t>
            </a:fld>
            <a:endParaRPr lang="en-IN" altLang="en-US" sz="1200">
              <a:solidFill>
                <a:srgbClr val="898989"/>
              </a:solidFill>
            </a:endParaRPr>
          </a:p>
        </p:txBody>
      </p:sp>
      <p:pic>
        <p:nvPicPr>
          <p:cNvPr id="23556" name="Content Placeholder 3">
            <a:extLst>
              <a:ext uri="{FF2B5EF4-FFF2-40B4-BE49-F238E27FC236}">
                <a16:creationId xmlns:a16="http://schemas.microsoft.com/office/drawing/2014/main" id="{F31C5A2A-1498-8656-84CE-232FA75B29D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57200" y="1460500"/>
            <a:ext cx="8229600" cy="4560888"/>
          </a:xfr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78" name="Picture 2" descr="D:\GITAM-GST-CSE\2024-25\Capstone-Project\GITAM-newlogo.jpeg">
            <a:extLst>
              <a:ext uri="{FF2B5EF4-FFF2-40B4-BE49-F238E27FC236}">
                <a16:creationId xmlns:a16="http://schemas.microsoft.com/office/drawing/2014/main" id="{FF992632-BA1E-49C1-63A9-06ACE85BC4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04025" y="-26988"/>
            <a:ext cx="2339975" cy="9620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579" name="Rectangle 2">
            <a:extLst>
              <a:ext uri="{FF2B5EF4-FFF2-40B4-BE49-F238E27FC236}">
                <a16:creationId xmlns:a16="http://schemas.microsoft.com/office/drawing/2014/main" id="{BD4B8539-87D8-5CD8-0C15-3D1E7368F0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6313" y="1604963"/>
            <a:ext cx="70421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73025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en-US" sz="2000" b="1" i="1" u="sng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580" name="Title 1">
            <a:extLst>
              <a:ext uri="{FF2B5EF4-FFF2-40B4-BE49-F238E27FC236}">
                <a16:creationId xmlns:a16="http://schemas.microsoft.com/office/drawing/2014/main" id="{1462FCD3-C897-1BB4-4278-BE73BD3CE6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388" y="188913"/>
            <a:ext cx="8507412" cy="1228725"/>
          </a:xfrm>
        </p:spPr>
        <p:txBody>
          <a:bodyPr/>
          <a:lstStyle/>
          <a:p>
            <a:r>
              <a:rPr lang="en-US" altLang="en-US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IN" altLang="en-US" sz="28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581" name="Rectangle 1">
            <a:extLst>
              <a:ext uri="{FF2B5EF4-FFF2-40B4-BE49-F238E27FC236}">
                <a16:creationId xmlns:a16="http://schemas.microsoft.com/office/drawing/2014/main" id="{8F1ABB94-F7E2-F1FC-74DD-A4A192ABC5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1349375"/>
            <a:ext cx="8661400" cy="4959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1800" dirty="0">
              <a:latin typeface="Arial" panose="020B0604020202020204" pitchFamily="34" charset="0"/>
            </a:endParaRPr>
          </a:p>
          <a:p>
            <a:pPr>
              <a:spcBef>
                <a:spcPct val="0"/>
              </a:spcBef>
              <a:buFontTx/>
              <a:buAutoNum type="arabicPeriod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Cloud-IoT system enables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environmental monitoring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accurate and reliable data collection.</a:t>
            </a:r>
          </a:p>
          <a:p>
            <a:pPr>
              <a:spcBef>
                <a:spcPct val="0"/>
              </a:spcBef>
              <a:buFontTx/>
              <a:buAutoNum type="arabicPeriod"/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  <a:buFontTx/>
              <a:buAutoNum type="arabicPeriod" startAt="2"/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 alert mechanisms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(SMS, email, mobile notifications) allow timely action on environmental anomalies.</a:t>
            </a:r>
          </a:p>
          <a:p>
            <a:pPr>
              <a:spcBef>
                <a:spcPct val="0"/>
              </a:spcBef>
              <a:buFontTx/>
              <a:buAutoNum type="arabicPeriod" startAt="2"/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  <a:buFontTx/>
              <a:buAutoNum type="arabicPeriod" startAt="3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Integration with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platforms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ensures scalable data storage, processing, and smart analytics.</a:t>
            </a:r>
          </a:p>
          <a:p>
            <a:pPr>
              <a:spcBef>
                <a:spcPct val="0"/>
              </a:spcBef>
              <a:buFontTx/>
              <a:buAutoNum type="arabicPeriod" startAt="3"/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  <a:buFontTx/>
              <a:buAutoNum type="arabicPeriod" startAt="4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improves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sensor reliability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through calibration and error-handling techniques.</a:t>
            </a:r>
          </a:p>
          <a:p>
            <a:pPr>
              <a:spcBef>
                <a:spcPct val="0"/>
              </a:spcBef>
              <a:buFontTx/>
              <a:buAutoNum type="arabicPeriod" startAt="4"/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  <a:buFontTx/>
              <a:buAutoNum type="arabicPeriod" startAt="5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Overall, the project supports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sustainable, data-driven environmental protection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by enabling proactive monitoring and decision-making.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80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02" name="Picture 2" descr="D:\GITAM-GST-CSE\2024-25\Capstone-Project\GITAM-newlogo.jpeg">
            <a:extLst>
              <a:ext uri="{FF2B5EF4-FFF2-40B4-BE49-F238E27FC236}">
                <a16:creationId xmlns:a16="http://schemas.microsoft.com/office/drawing/2014/main" id="{B0E4DAF5-B13C-B7EA-9E3A-3E390E3E00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04025" y="-87313"/>
            <a:ext cx="2339975" cy="9620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508" name="Rectangle 3">
            <a:extLst>
              <a:ext uri="{FF2B5EF4-FFF2-40B4-BE49-F238E27FC236}">
                <a16:creationId xmlns:a16="http://schemas.microsoft.com/office/drawing/2014/main" id="{8C87AF61-CA22-FDAB-B678-F30912BF26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87824" y="332656"/>
            <a:ext cx="2573189" cy="5232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2800" b="1" dirty="0">
                <a:solidFill>
                  <a:srgbClr val="0070C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References</a:t>
            </a:r>
            <a:endParaRPr lang="en-IN" altLang="en-US" sz="2800" b="1" dirty="0">
              <a:solidFill>
                <a:srgbClr val="0070C0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25604" name="TextBox 2">
            <a:extLst>
              <a:ext uri="{FF2B5EF4-FFF2-40B4-BE49-F238E27FC236}">
                <a16:creationId xmlns:a16="http://schemas.microsoft.com/office/drawing/2014/main" id="{3CF5408A-C101-91F5-AF44-162C9FD106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528" y="1052736"/>
            <a:ext cx="8352928" cy="6524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 Shah, A. A., Reddy, G. A., &amp; Kaviya, V. (2023). Multiutility &amp; Customizable Environment Monitoring System with the Healthcare Utilities.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International Journal for Multidisciplinary Research (IJFMR)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Vol. 5, Issue 5, Sept–Oct 2023. E-ISSN: 2582-2160. </a:t>
            </a:r>
          </a:p>
          <a:p>
            <a:pPr>
              <a:spcBef>
                <a:spcPct val="0"/>
              </a:spcBef>
              <a:buFontTx/>
              <a:buChar char="•"/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 Narayana, T. L., Venkatesh, C., Kiran, A., Babu, C. J., Kumar, A., Khan, S. B.,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Almusharraf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A., &amp; Quasim, M. T. (2024). Advances in real time smart monitoring of environmental parameters using IoT and sensors. </a:t>
            </a:r>
            <a:r>
              <a:rPr lang="en-US" alt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Heliyon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10, e28195. Elsevier. </a:t>
            </a:r>
          </a:p>
          <a:p>
            <a:pPr>
              <a:spcBef>
                <a:spcPct val="0"/>
              </a:spcBef>
              <a:buFontTx/>
              <a:buChar char="•"/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[3] Singh, B., Thakur, A., Chauhan, D., Srivastava, S., &amp; Pant, V. K. (2025). IoT-Based Smart Sensors for Environmental Pollution Detection and Control.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Stallion Journal for Multidisciplinary Associated Research Studies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2nd ICMRI Conference Proceedings.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[4] J. Jo, B. Jo, J. Kim, S. Kim, and W. Han, “Development of an IoT-Based Indoor Air Quality Monitoring Platform,” Journal of Sensors, vol. 2020, pp. 1–14, Jan. 2020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IN" altLang="en-US" sz="1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27B32A-8231-F076-8DD9-EDB31A67B1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02" name="Picture 2" descr="D:\GITAM-GST-CSE\2024-25\Capstone-Project\GITAM-newlogo.jpeg">
            <a:extLst>
              <a:ext uri="{FF2B5EF4-FFF2-40B4-BE49-F238E27FC236}">
                <a16:creationId xmlns:a16="http://schemas.microsoft.com/office/drawing/2014/main" id="{0DAF08DE-698D-8247-0EE7-56819A529A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04025" y="-87313"/>
            <a:ext cx="2339975" cy="9620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2BD1473-1021-9500-2B6C-7C79E73BED71}"/>
              </a:ext>
            </a:extLst>
          </p:cNvPr>
          <p:cNvSpPr txBox="1"/>
          <p:nvPr/>
        </p:nvSpPr>
        <p:spPr>
          <a:xfrm>
            <a:off x="323528" y="1052736"/>
            <a:ext cx="8424936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[5] C. Gopi, V. Pramodh, M. S. Charan, K. S. K. Reddy, and D.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SaiVamsi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“Cloud-Based Air Quality Monitoring through Wireless Sensor Network Using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NodeMCU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,” International Journal for Research in Applied Science &amp; Engineering Technology (IJRASET), vol. 10, no. 12, pp. 911–915, Dec. 2022.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[6] L. Moses, Tamilselvan, Raju, and Karthikeyan, “IoT enabled Environmental Air Pollution Monitoring and Rerouting system using Machine learning algorithms,” IOP Conf. Ser.: Mater. Sci. Eng., vol. 955, p. 012005, 2020.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[7] S. P. Nikam and S. M. Kulkarni, “IoT based Environmental Monitoring System,” Int. J. Eng. Res. Technol. (IJERT), vol. 10, no. 6, pp. 845–850, Jun. 2021.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[8] S. R. Laha, B. K.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Pattanayak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S.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Pattnaik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“Advancement of Environmental Monitoring System Using IoT and Sensor: A Comprehensive Analysis,” AIMS Environmental Science, vol. 9, no. 6, pp. 771–800, Nov. 2022.</a:t>
            </a:r>
          </a:p>
        </p:txBody>
      </p:sp>
    </p:spTree>
    <p:extLst>
      <p:ext uri="{BB962C8B-B14F-4D97-AF65-F5344CB8AC3E}">
        <p14:creationId xmlns:p14="http://schemas.microsoft.com/office/powerpoint/2010/main" val="25773675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Executive</Template>
  <TotalTime>1008</TotalTime>
  <Words>2416</Words>
  <Application>Microsoft Office PowerPoint</Application>
  <PresentationFormat>On-screen Show (4:3)</PresentationFormat>
  <Paragraphs>248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22</vt:i4>
      </vt:variant>
    </vt:vector>
  </HeadingPairs>
  <TitlesOfParts>
    <vt:vector size="30" baseType="lpstr">
      <vt:lpstr>Calibri</vt:lpstr>
      <vt:lpstr>Arial</vt:lpstr>
      <vt:lpstr>Times New Roman</vt:lpstr>
      <vt:lpstr>Wingdings</vt:lpstr>
      <vt:lpstr>Tahoma</vt:lpstr>
      <vt:lpstr>Office Theme</vt:lpstr>
      <vt:lpstr>1_Office Theme</vt:lpstr>
      <vt:lpstr>2_Office Theme</vt:lpstr>
      <vt:lpstr>Capstone Project – I:  Review – 1 on Cloud-IoT Based Environmental Monitoring and Alert System</vt:lpstr>
      <vt:lpstr>CONTENTS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Problem Statements</vt:lpstr>
      <vt:lpstr>Objectives</vt:lpstr>
      <vt:lpstr>Work Breakdown &amp; Task Allocation</vt:lpstr>
      <vt:lpstr>Work Breakdown &amp; Task Allocation</vt:lpstr>
      <vt:lpstr>Work Breakdown &amp; Task Allocation</vt:lpstr>
      <vt:lpstr>Work Breakdown &amp; Task Allocation</vt:lpstr>
      <vt:lpstr>Timeline &amp; Milestones (Gantt Chart)</vt:lpstr>
      <vt:lpstr>Conclusion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Hp</dc:creator>
  <cp:lastModifiedBy>g srujana</cp:lastModifiedBy>
  <cp:revision>54</cp:revision>
  <dcterms:created xsi:type="dcterms:W3CDTF">2024-09-06T03:49:57Z</dcterms:created>
  <dcterms:modified xsi:type="dcterms:W3CDTF">2025-09-28T14:31:47Z</dcterms:modified>
</cp:coreProperties>
</file>