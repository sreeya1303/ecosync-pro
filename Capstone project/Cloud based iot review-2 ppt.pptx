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266" r:id="rId5"/>
    <p:sldId id="267" r:id="rId7"/>
    <p:sldId id="277" r:id="rId8"/>
    <p:sldId id="279" r:id="rId9"/>
    <p:sldId id="289" r:id="rId10"/>
    <p:sldId id="281" r:id="rId11"/>
    <p:sldId id="300" r:id="rId12"/>
    <p:sldId id="301" r:id="rId13"/>
    <p:sldId id="302" r:id="rId14"/>
    <p:sldId id="283" r:id="rId15"/>
    <p:sldId id="296" r:id="rId16"/>
    <p:sldId id="297" r:id="rId17"/>
    <p:sldId id="285" r:id="rId18"/>
    <p:sldId id="257" r:id="rId19"/>
    <p:sldId id="295" r:id="rId20"/>
    <p:sldId id="303" r:id="rId21"/>
    <p:sldId id="287" r:id="rId22"/>
    <p:sldId id="270" r:id="rId23"/>
    <p:sldId id="304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9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22CEA8B-941C-420D-B00C-B2D89ABF5C4F}" type="datetimeFigureOut">
              <a:rPr lang="en-IN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04E717A-E65D-4E75-8EE8-F0A3920E7C40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IN" altLang="en-US"/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90204" pitchFamily="34" charset="0"/>
              </a:defRPr>
            </a:lvl9pPr>
          </a:lstStyle>
          <a:p>
            <a:fld id="{240805ED-3D4C-40FC-AAFB-4827FFB9B38F}" type="slidenum">
              <a:rPr lang="en-IN" altLang="en-US" smtClean="0"/>
            </a:fld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19176-7E85-4285-A31D-074769CE753B}" type="datetime1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37DA7-9FFD-43BD-91DD-592A88B69BE4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47586-E773-41DD-8821-E87C370C31F5}" type="datetime1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C6CEE-B986-4614-A39C-01D929A6D779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0B4AF-F2AA-4320-AB7D-68C3D12866DC}" type="datetime1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3FAEA-EA84-47EF-BCDD-4526F83EC389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2BCAF-55E4-42AF-82AC-1A47DF6F2D18}" type="datetime1">
              <a:rPr lang="en-IN"/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3C2FD-5353-4554-BF74-F080C96C356C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CE076-4D9A-4919-A52B-1F08EFDA7FB2}" type="datetime1">
              <a:rPr lang="en-IN"/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86E9B-7CF8-4DF0-B7BE-9F1379FC60AE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F92C8-FD25-438A-9ADE-FC161EAC681C}" type="datetime1">
              <a:rPr lang="en-IN"/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9EA1F-8A12-4B7E-8B52-E3AB2BCF7002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E003-84D5-4DDF-9CF3-FE9632185711}" type="datetime1">
              <a:rPr lang="en-IN"/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7BAED-11C1-4BF9-A253-7F141A72D31A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9A51F-963F-407A-80CD-07D21366F44C}" type="datetime1">
              <a:rPr lang="en-IN"/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328B8-5322-4B50-8DEC-89EEB52366E7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7F002-0461-46A2-9DDE-285086542CB5}" type="datetime1">
              <a:rPr lang="en-IN"/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5A93F-9F67-4175-BFA0-707E93CDF0F3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940E5-315D-42C9-8C48-EFBFE098ECB8}" type="datetime1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F6AB1-FB61-4672-A617-CF34513A6E85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CCF1-A644-48CC-BD3B-83865D918968}" type="datetime1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6887-9ADC-40AC-A725-DA0626ED4FEB}" type="slidenum">
              <a:rPr lang="en-IN" altLang="en-US"/>
            </a:fld>
            <a:endParaRPr lang="en-I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72E20-B697-4F72-B9BA-B868C2DB974B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B8DB3-6183-494E-B535-CF0FA797FD8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1A678-5E4E-410B-A033-97E7F7521284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C5D6D-E788-41A5-8EB1-CBB9FDCE774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E1A78-062D-4D6B-B540-364AEEEDDC4B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94A72C-A4DA-4A34-B1EA-7EBD8C56DFB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99A9B-4802-4819-B579-4878659E5615}" type="datetime1">
              <a:rPr lang="en-IN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73FCE-B06E-428F-80A7-F61254F5027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6CAD3-7D3C-4CF2-8AEF-FBD0E37E2D33}" type="datetime1">
              <a:rPr lang="en-IN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96A37-4DCF-494C-9976-CFB6EB4945C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C0D3E-CBAA-4FEB-919C-533CA5AD07B2}" type="datetime1">
              <a:rPr lang="en-IN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B41DA8-B024-4D95-9412-F05FBC12F6E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4D931-259C-4D5F-9296-3094F5C789DD}" type="datetime1">
              <a:rPr lang="en-IN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BD824-21AB-449A-A5B0-B5F7103C6F9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8F960-D57F-4A8F-B035-80445C7DF98E}" type="datetime1">
              <a:rPr lang="en-IN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529AD-A558-4C06-B377-F246ED6F527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212D3-6344-40FD-BDF5-57EDB8163E0C}" type="datetime1">
              <a:rPr lang="en-IN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F7935-0DAE-454A-9BA2-4C245DB39DF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57AE7A-BD33-43CD-B1CA-93DDC987272F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6B8C5-6666-45D5-87D3-0127093C853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81484-2700-4B0C-B0EE-D763FAB1EA9A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A7A54-A729-4099-A0E7-247C05E53EB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B4E9E-B8F3-4028-886F-A72AA58AF3DE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9C039-3BA7-4CF4-82E6-944B7DCA89D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425FE9-6864-423E-BB39-0E04A170D92F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CA522-4090-4484-BF8C-06847F615C6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C3264-C74F-4290-8467-4479E5EC4D6E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6FFDA-479A-4AE9-8DBD-B9C1C98C8BC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E3FC7-5BB8-40DD-AE70-7F49972CF73C}" type="datetime1">
              <a:rPr lang="en-IN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7A3D0-0FEC-4AB5-A0CD-6FF9ED6C265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A6027-1ED7-450D-8BAE-E1C41DE1EBE3}" type="datetime1">
              <a:rPr lang="en-IN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6A26C-3FC7-497F-8FC4-B7A54A95CF5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998AB-DBA3-4BE6-9E49-16EB9FA898B1}" type="datetime1">
              <a:rPr lang="en-IN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7277E1-CDDC-49F1-A284-304E77FC97E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7AA3D-3C56-4018-98E2-0B025F06ECF9}" type="datetime1">
              <a:rPr lang="en-IN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23446C-F69D-4250-9C69-36E4577DE8A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653C0-7FBC-4A6D-83E4-37BEF8703476}" type="datetime1">
              <a:rPr lang="en-IN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189ED-17B3-4F29-B3CA-ECEB2E15001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2C53-34C5-4ECA-B8F4-A5BCCEFEBB7E}" type="datetime1">
              <a:rPr lang="en-IN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A68A7-0F7C-4E1A-A444-C1E82080475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D8082-7687-49DE-97AB-AB3AB65AB0E7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97042-8FE6-41FA-898B-208D9AB17B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6FF3B-8CF2-495B-BDD5-81AE99C8D8CC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17CD0-0034-451C-8F54-C6492D57775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423A60D-B78A-4947-BDD1-20DC8AA31DC7}" type="datetime1">
              <a:rPr lang="en-IN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FD9EA83-C60B-41A6-8044-2A8CEEF6D8EB}" type="slidenum">
              <a:rPr lang="en-IN" altLang="en-US"/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924B42-6133-4865-A2AA-4BFB627E86FC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2A69328-6A2A-44A0-9A75-20BB7056897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3075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174B36-C05D-4E3C-B607-2899000F5BB8}" type="datetime1">
              <a:rPr lang="en-IN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4CD2065-0643-4526-ABDD-0EDC409615D9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 noChangeArrowheads="1"/>
          </p:cNvSpPr>
          <p:nvPr>
            <p:ph type="title"/>
          </p:nvPr>
        </p:nvSpPr>
        <p:spPr>
          <a:xfrm>
            <a:off x="239713" y="747713"/>
            <a:ext cx="8580437" cy="1457325"/>
          </a:xfrm>
        </p:spPr>
        <p:txBody>
          <a:bodyPr/>
          <a:lstStyle/>
          <a:p>
            <a:pPr eaLnBrk="1" hangingPunct="1"/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Capstone Project – I:  Review – 2 on</a:t>
            </a:r>
            <a:br>
              <a:rPr lang="en-IN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altLang="en-US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Cloud-IoT Based Environmental Monitoring and Alert System</a:t>
            </a:r>
            <a:endParaRPr lang="en-IN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1413" y="4508500"/>
            <a:ext cx="4105275" cy="1222375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Arial" panose="020B0604020202090204" pitchFamily="34" charset="0"/>
              <a:buNone/>
              <a:defRPr/>
            </a:pPr>
            <a:r>
              <a:rPr lang="en-IN" sz="2000" b="1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Under the Guidance of</a:t>
            </a:r>
            <a:endParaRPr lang="en-IN" sz="2000" b="1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90204" pitchFamily="34" charset="0"/>
              <a:buNone/>
              <a:defRPr/>
            </a:pPr>
            <a:r>
              <a:rPr lang="en-IN" sz="2000" b="1"/>
              <a:t>Dr Thirumalai Selvan C</a:t>
            </a:r>
            <a:endParaRPr lang="en-IN" sz="2000" b="1"/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90204" pitchFamily="34" charset="0"/>
              <a:buNone/>
              <a:defRPr/>
            </a:pPr>
            <a:r>
              <a:rPr lang="en-IN" sz="2000"/>
              <a:t>Assistant Professor</a:t>
            </a:r>
            <a:endParaRPr lang="en-US" alt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90204" pitchFamily="34" charset="0"/>
              <a:buNone/>
              <a:defRPr/>
            </a:pPr>
            <a:endParaRPr lang="en-IN" altLang="en-US" sz="20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00" name="TextBox 4"/>
          <p:cNvSpPr txBox="1">
            <a:spLocks noChangeArrowheads="1"/>
          </p:cNvSpPr>
          <p:nvPr/>
        </p:nvSpPr>
        <p:spPr bwMode="auto">
          <a:xfrm>
            <a:off x="84138" y="2420938"/>
            <a:ext cx="8375650" cy="1946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IN" altLang="en-US" sz="2000" b="1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Presented by the Batch No. : 88</a:t>
            </a:r>
            <a:endParaRPr lang="en-IN" altLang="en-US" sz="2000" b="1">
              <a:solidFill>
                <a:srgbClr val="C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endParaRPr lang="en-US" altLang="en-US" sz="105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r>
              <a:rPr lang="en-US" altLang="en-US" sz="180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</a:t>
            </a:r>
            <a:r>
              <a:rPr lang="en-US" altLang="en-US" sz="18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 Moukthika Sri Srujana         BU22CSEN0102316 </a:t>
            </a:r>
            <a:endParaRPr lang="en-US" altLang="en-US" sz="180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r>
              <a:rPr lang="en-US" altLang="en-US" sz="18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Kunthalapati Sreeya                 BU22CSEN0102310 </a:t>
            </a:r>
            <a:endParaRPr lang="en-US" altLang="en-US" sz="180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r>
              <a:rPr lang="it-IT" altLang="en-US" sz="18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Sreekar Venkata Kanduri</a:t>
            </a:r>
            <a:r>
              <a:rPr lang="en-US" altLang="en-US" sz="18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BU22CSEN0101143</a:t>
            </a:r>
            <a:endParaRPr lang="en-US" altLang="en-US" sz="180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r>
              <a:rPr lang="it-IT" altLang="en-US" sz="18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Uppala Dhanush</a:t>
            </a:r>
            <a:r>
              <a:rPr lang="en-US" altLang="en-US" sz="18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Shankar        BU22CSEN0100265 </a:t>
            </a:r>
            <a:endParaRPr lang="en-US" altLang="en-US" sz="180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r>
              <a:rPr lang="en-US" altLang="en-US" sz="18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en-US" altLang="en-US" sz="180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125" name="Rectangle 11"/>
          <p:cNvSpPr>
            <a:spLocks noChangeArrowheads="1"/>
          </p:cNvSpPr>
          <p:nvPr/>
        </p:nvSpPr>
        <p:spPr bwMode="auto">
          <a:xfrm>
            <a:off x="539750" y="5732463"/>
            <a:ext cx="8280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IN" altLang="en-US" sz="2000" b="1">
                <a:solidFill>
                  <a:srgbClr val="000099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Department of Computer Science and Engineering</a:t>
            </a:r>
            <a:endParaRPr lang="en-IN" altLang="en-US" sz="2000" b="1">
              <a:solidFill>
                <a:srgbClr val="000099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GITAM School of CSE, GITAM (Deemed to be University),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Bengaluru, Karnataka, INDIA.</a:t>
            </a:r>
            <a:endParaRPr lang="en-IN" altLang="en-US" sz="2000" b="1">
              <a:solidFill>
                <a:srgbClr val="000099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126" name="Picture 2" descr="D:\GITAM-GST-CSE\2024-25\Capstone-Project\GITAM-newlogo.jpe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title"/>
          </p:nvPr>
        </p:nvSpPr>
        <p:spPr>
          <a:xfrm>
            <a:off x="250825" y="263525"/>
            <a:ext cx="5278438" cy="885825"/>
          </a:xfrm>
        </p:spPr>
        <p:txBody>
          <a:bodyPr/>
          <a:lstStyle/>
          <a:p>
            <a:pPr algn="just" eaLnBrk="1" hangingPunct="1"/>
            <a:r>
              <a:rPr lang="en-IN" altLang="en-US" sz="2800" b="1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CONTENTS</a:t>
            </a:r>
            <a:endParaRPr lang="en-IN" altLang="en-US" sz="2800" b="1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17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06425" y="1141413"/>
            <a:ext cx="7931150" cy="4459287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Recap of Capstone Project Introduction Review-1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AutoNum type="alphaUcPeriod"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Problem Statement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AutoNum type="alphaUcPeriod"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Objectives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Calibri" panose="020F0502020204030204" pitchFamily="34" charset="0"/>
              <a:buAutoNum type="alphaUcPeriod"/>
            </a:pPr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Feedback from Guide/Reviewers and actions taken after Review–1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en-US" altLang="en-US" sz="2000">
                <a:solidFill>
                  <a:srgbClr val="92D05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Requirement Analysis</a:t>
            </a:r>
            <a:endParaRPr lang="en-IN" altLang="en-US" sz="2000">
              <a:solidFill>
                <a:srgbClr val="92D05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en-US" altLang="en-US" sz="2000">
                <a:solidFill>
                  <a:srgbClr val="92D05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Identification of tools/technology/algorithms</a:t>
            </a:r>
            <a:endParaRPr lang="en-IN" altLang="en-US" sz="2000">
              <a:solidFill>
                <a:srgbClr val="92D05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en-US" altLang="en-US" sz="2000">
                <a:solidFill>
                  <a:srgbClr val="92D05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Design Strategy (project workflow/ system design/ DFD/UML design)</a:t>
            </a:r>
            <a:endParaRPr lang="en-IN" altLang="en-US" sz="2000">
              <a:solidFill>
                <a:srgbClr val="92D05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en-US" altLang="en-US" sz="2000">
                <a:solidFill>
                  <a:srgbClr val="92D05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Conclusion</a:t>
            </a:r>
            <a:endParaRPr lang="en-IN" altLang="en-US" sz="2000">
              <a:solidFill>
                <a:srgbClr val="92D05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Calibri" panose="020F0502020204030204" pitchFamily="34" charset="0"/>
              <a:buAutoNum type="arabicPeriod"/>
            </a:pPr>
            <a:r>
              <a:rPr lang="en-US" altLang="en-US" sz="2000">
                <a:solidFill>
                  <a:srgbClr val="92D05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References</a:t>
            </a:r>
            <a:endParaRPr lang="en-IN" altLang="en-US" sz="2000">
              <a:solidFill>
                <a:srgbClr val="92D05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172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BFD996-DD18-4538-BBC2-45AC6B56E662}" type="slidenum">
              <a:rPr lang="en-US" altLang="en-US" sz="1200" smtClean="0">
                <a:solidFill>
                  <a:srgbClr val="898989"/>
                </a:solidFill>
              </a:rPr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7173" name="Picture 2" descr="D:\GITAM-GST-CSE\2024-25\Capstone-Project\GITAM-newlogo.jpe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Problem Statement</a:t>
            </a:r>
            <a:endParaRPr lang="en-IN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Rising </a:t>
            </a: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air pollution, water contamination, and climate anomalies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 demand continuous monitoring, but existing systems are limited.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Traditional monitoring approaches are </a:t>
            </a: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manual, slow, and lack real-time responsiveness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Current IoT systems often </a:t>
            </a: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struggle with sensor accuracy, reliability, and calibration issues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Many solutions </a:t>
            </a: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collect data but fail to provide timely alerts or automated actions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There is no </a:t>
            </a: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scalable, cloud-integrated system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 that ensures reliable monitoring and intelligent alerting across diverse environments.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Font typeface="Arial" panose="020B0604020202090204" pitchFamily="34" charset="0"/>
              <a:buNone/>
              <a:defRPr/>
            </a:pP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Font typeface="Arial" panose="020B0604020202090204" pitchFamily="34" charset="0"/>
              <a:buNone/>
              <a:defRPr/>
            </a:pPr>
            <a:endParaRPr lang="en-IN" altLang="en-US" sz="200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C52D0C-B51E-4D9F-AF56-39F8545C6C1F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Objectives</a:t>
            </a:r>
            <a:endParaRPr lang="en-IN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23850" y="1268413"/>
            <a:ext cx="8362950" cy="4857750"/>
          </a:xfrm>
        </p:spPr>
        <p:txBody>
          <a:bodyPr/>
          <a:lstStyle/>
          <a:p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Main Objective</a:t>
            </a:r>
            <a:b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To design and develop a Cloud-IoT based intelligent system for real-time environmental monitoring and alerting that </a:t>
            </a: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addresses the drawback of sensor accuracy and reliability in existing methods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 through calibration, error-handling, drift correction techniques, and the use of the </a:t>
            </a: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Kalman Filter algorithm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 for noise reduction and reliable data fusion.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Specific Objectives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Overcome </a:t>
            </a: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sensor accuracy and reliability issues</a:t>
            </a: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 using calibration, error-handling, drift correction, and Kalman Filter.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Enable real-time data collection and monitoring using IoT-based sensors.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Integrate with cloud platforms for scalable data storage, processing, and analytics.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Implement automated and accurate alert mechanisms (SMS, email, mobile notifications) for timely response.</a:t>
            </a:r>
            <a:endParaRPr lang="en-US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0FEC05-D1B4-42E5-8DAD-2C622C113835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Feedback from Guide/Reviewers and actions taken after Review–1</a:t>
            </a:r>
            <a:endParaRPr lang="en-US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12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&lt;Use Times New Roman Font with 20 size for running text in the ppt slide&gt; </a:t>
            </a: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931ABA-93A1-4819-9C60-4DB1DD312770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0245" name="Content Placeholder 2"/>
          <p:cNvSpPr txBox="1"/>
          <p:nvPr/>
        </p:nvSpPr>
        <p:spPr bwMode="auto">
          <a:xfrm>
            <a:off x="460375" y="2276475"/>
            <a:ext cx="8229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Feedback from Guide/Reviewers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2.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3.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Actions taken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2.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3.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Requirement Analysis</a:t>
            </a:r>
            <a:endParaRPr lang="en-IN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1557338"/>
            <a:ext cx="8291512" cy="4568825"/>
          </a:xfrm>
        </p:spPr>
        <p:txBody>
          <a:bodyPr/>
          <a:lstStyle/>
          <a:p>
            <a:pPr marL="0" indent="0">
              <a:buFont typeface="Arial" panose="020B0604020202090204" pitchFamily="34" charset="0"/>
              <a:buNone/>
              <a:defRPr/>
            </a:pPr>
            <a:r>
              <a:rPr lang="en-IN" sz="2800" b="1">
                <a:latin typeface="Times New Roman" panose="02020503050405090304"/>
                <a:cs typeface="Times New Roman" panose="02020503050405090304"/>
              </a:rPr>
              <a:t>Functional Requirements</a:t>
            </a:r>
            <a:endParaRPr lang="en-IN" sz="2800" b="1"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/>
                <a:cs typeface="Times New Roman" panose="02020503050405090304"/>
              </a:rPr>
              <a:t>Real-time data acquisition from IoT sensors (air, water, climate).</a:t>
            </a:r>
            <a:endParaRPr lang="en-IN" sz="2000"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/>
                <a:cs typeface="Times New Roman" panose="02020503050405090304"/>
              </a:rPr>
              <a:t>Reliable sensor data ingestion via MQTT/HTTP with edge buffering.</a:t>
            </a:r>
            <a:endParaRPr lang="en-IN" sz="2000"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/>
                <a:cs typeface="Times New Roman" panose="02020503050405090304"/>
              </a:rPr>
              <a:t> Preprocessing: calibration, noise filtering, drift correction, Kalman filter.</a:t>
            </a:r>
            <a:endParaRPr lang="en-IN" sz="2000"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/>
                <a:cs typeface="Times New Roman" panose="02020503050405090304"/>
              </a:rPr>
              <a:t> Scalable cloud storage for time-series and analytics data.</a:t>
            </a:r>
            <a:endParaRPr lang="en-IN" sz="2000"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/>
                <a:cs typeface="Times New Roman" panose="02020503050405090304"/>
              </a:rPr>
              <a:t>Streaming data delivery to visualization dashboard.</a:t>
            </a:r>
            <a:endParaRPr lang="en-IN" sz="2000"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/>
                <a:cs typeface="Times New Roman" panose="02020503050405090304"/>
              </a:rPr>
              <a:t>Automated anomaly detection and intelligent alerting (SMS, email).</a:t>
            </a:r>
            <a:endParaRPr lang="en-IN" sz="2000"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/>
                <a:cs typeface="Times New Roman" panose="02020503050405090304"/>
              </a:rPr>
              <a:t>Web-based dashboard for visualization and data trends.</a:t>
            </a:r>
            <a:endParaRPr lang="en-IN" sz="2000">
              <a:latin typeface="Times New Roman" panose="02020503050405090304"/>
              <a:cs typeface="Times New Roman" panose="02020503050405090304"/>
            </a:endParaRPr>
          </a:p>
          <a:p>
            <a:pPr marL="0" indent="0">
              <a:spcAft>
                <a:spcPts val="600"/>
              </a:spcAft>
              <a:buNone/>
              <a:defRPr sz="2000"/>
            </a:pPr>
            <a:endParaRPr lang="en-IN" sz="2000">
              <a:latin typeface="Times New Roman" panose="02020503050405090304"/>
              <a:cs typeface="Times New Roman" panose="02020503050405090304"/>
            </a:endParaRPr>
          </a:p>
          <a:p>
            <a:pPr>
              <a:defRPr/>
            </a:pP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Font typeface="Arial" panose="020B0604020202090204" pitchFamily="34" charset="0"/>
              <a:buNone/>
              <a:defRPr/>
            </a:pP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B4B39B-6476-45AD-A6D8-191549BDDA5B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620713"/>
            <a:ext cx="8362950" cy="5505450"/>
          </a:xfrm>
        </p:spPr>
        <p:txBody>
          <a:bodyPr/>
          <a:lstStyle/>
          <a:p>
            <a:pPr marL="0" indent="0">
              <a:buFont typeface="Arial" panose="020B0604020202090204" pitchFamily="34" charset="0"/>
              <a:buNone/>
              <a:defRPr/>
            </a:pPr>
            <a:r>
              <a:rPr lang="en-IN" sz="2800" b="1" dirty="0">
                <a:latin typeface="Times New Roman" panose="02020503050405090304"/>
                <a:cs typeface="Times New Roman" panose="02020503050405090304"/>
              </a:rPr>
              <a:t>Non-Functional Requirements</a:t>
            </a:r>
            <a:endParaRPr lang="en-IN" sz="2800" b="1" dirty="0">
              <a:latin typeface="Times New Roman" panose="02020503050405090304"/>
              <a:cs typeface="Times New Roman" panose="02020503050405090304"/>
            </a:endParaRPr>
          </a:p>
          <a:p>
            <a:pPr marL="0" indent="0">
              <a:buFont typeface="Arial" panose="020B0604020202090204" pitchFamily="34" charset="0"/>
              <a:buNone/>
              <a:defRPr/>
            </a:pP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Font typeface="Wingdings" panose="05000000000000000000"/>
              <a:buChar char="Ø"/>
              <a:defRPr sz="2000"/>
            </a:pPr>
            <a:r>
              <a:rPr lang="en-US" sz="2000" b="1" dirty="0">
                <a:latin typeface="Times New Roman" panose="02020503050405090304"/>
                <a:ea typeface="+mn-lt"/>
                <a:cs typeface="+mn-lt"/>
              </a:rPr>
              <a:t>Performance:</a:t>
            </a:r>
            <a:r>
              <a:rPr lang="en-US" sz="2000" dirty="0">
                <a:latin typeface="Times New Roman" panose="02020503050405090304"/>
                <a:ea typeface="+mn-lt"/>
                <a:cs typeface="+mn-lt"/>
              </a:rPr>
              <a:t> Data delay &lt; 2s, API latency &lt; 200ms.</a:t>
            </a:r>
            <a:endParaRPr lang="en-US" dirty="0">
              <a:latin typeface="Times New Roman" panose="02020503050405090304"/>
              <a:cs typeface="Times New Roman" panose="02020503050405090304"/>
            </a:endParaRPr>
          </a:p>
          <a:p>
            <a:pPr>
              <a:buFont typeface="Wingdings" panose="05000000000000000000"/>
              <a:buChar char="Ø"/>
              <a:defRPr sz="2000"/>
            </a:pPr>
            <a:r>
              <a:rPr lang="en-US" sz="2000" b="1" dirty="0">
                <a:latin typeface="Times New Roman" panose="02020503050405090304"/>
                <a:ea typeface="+mn-lt"/>
                <a:cs typeface="+mn-lt"/>
              </a:rPr>
              <a:t>Reliability:</a:t>
            </a:r>
            <a:r>
              <a:rPr lang="en-US" sz="2000" dirty="0">
                <a:latin typeface="Times New Roman" panose="02020503050405090304"/>
                <a:ea typeface="+mn-lt"/>
                <a:cs typeface="+mn-lt"/>
              </a:rPr>
              <a:t> 24/7 uptime with automatic sensor reconnection.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pPr>
              <a:buFont typeface="Wingdings" panose="05000000000000000000"/>
              <a:buChar char="Ø"/>
              <a:defRPr sz="2000"/>
            </a:pPr>
            <a:r>
              <a:rPr lang="en-US" sz="2000" b="1" dirty="0">
                <a:latin typeface="Times New Roman" panose="02020503050405090304"/>
                <a:ea typeface="+mn-lt"/>
                <a:cs typeface="+mn-lt"/>
              </a:rPr>
              <a:t>Scalability:</a:t>
            </a:r>
            <a:r>
              <a:rPr lang="en-US" sz="2000" dirty="0">
                <a:latin typeface="Times New Roman" panose="02020503050405090304"/>
                <a:ea typeface="+mn-lt"/>
                <a:cs typeface="+mn-lt"/>
              </a:rPr>
              <a:t> Supports 100+ IoT nodes via cloud horizontal scaling.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pPr>
              <a:buFont typeface="Wingdings" panose="05000000000000000000"/>
              <a:buChar char="Ø"/>
              <a:defRPr sz="2000"/>
            </a:pPr>
            <a:r>
              <a:rPr lang="en-US" sz="2000" b="1" dirty="0">
                <a:latin typeface="Times New Roman" panose="02020503050405090304"/>
                <a:ea typeface="+mn-lt"/>
                <a:cs typeface="+mn-lt"/>
              </a:rPr>
              <a:t>Accuracy:</a:t>
            </a:r>
            <a:r>
              <a:rPr lang="en-US" sz="2000" dirty="0">
                <a:latin typeface="Times New Roman" panose="02020503050405090304"/>
                <a:ea typeface="+mn-lt"/>
                <a:cs typeface="+mn-lt"/>
              </a:rPr>
              <a:t> &gt;95% accuracy with calibration, Kalman filter, and drift correction.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pPr>
              <a:buFont typeface="Wingdings" panose="05000000000000000000"/>
              <a:buChar char="Ø"/>
              <a:defRPr sz="2000"/>
            </a:pPr>
            <a:r>
              <a:rPr lang="en-US" sz="2000" b="1" dirty="0">
                <a:latin typeface="Times New Roman" panose="02020503050405090304"/>
                <a:ea typeface="+mn-lt"/>
                <a:cs typeface="+mn-lt"/>
              </a:rPr>
              <a:t>Security:</a:t>
            </a:r>
            <a:r>
              <a:rPr lang="en-US" sz="2000" dirty="0">
                <a:latin typeface="Times New Roman" panose="02020503050405090304"/>
                <a:ea typeface="+mn-lt"/>
                <a:cs typeface="+mn-lt"/>
              </a:rPr>
              <a:t> TLS encryption and role-based dashboard access.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pPr>
              <a:buFont typeface="Wingdings" panose="05000000000000000000"/>
              <a:buChar char="Ø"/>
              <a:defRPr sz="2000"/>
            </a:pPr>
            <a:r>
              <a:rPr lang="en-US" sz="2000" b="1" dirty="0">
                <a:latin typeface="Times New Roman" panose="02020503050405090304"/>
                <a:ea typeface="+mn-lt"/>
                <a:cs typeface="+mn-lt"/>
              </a:rPr>
              <a:t>Maintainability:</a:t>
            </a:r>
            <a:r>
              <a:rPr lang="en-US" sz="2000" dirty="0">
                <a:latin typeface="Times New Roman" panose="02020503050405090304"/>
                <a:ea typeface="+mn-lt"/>
                <a:cs typeface="+mn-lt"/>
              </a:rPr>
              <a:t> Modular design, clear documentation, GitHub version control.</a:t>
            </a:r>
            <a:endParaRPr lang="en-US">
              <a:latin typeface="Times New Roman" panose="02020503050405090304"/>
              <a:cs typeface="Times New Roman" panose="02020503050405090304"/>
            </a:endParaRPr>
          </a:p>
          <a:p>
            <a:pPr>
              <a:buFont typeface="Wingdings" panose="05000000000000000000" pitchFamily="34" charset="0"/>
              <a:buChar char="Ø"/>
              <a:defRPr sz="2000"/>
            </a:pPr>
            <a:endParaRPr lang="en-IN" sz="2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9672A9-974B-469B-A936-455B2E49832E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620713"/>
            <a:ext cx="8362950" cy="5505450"/>
          </a:xfrm>
        </p:spPr>
        <p:txBody>
          <a:bodyPr/>
          <a:lstStyle/>
          <a:p>
            <a:pPr marL="0" indent="0">
              <a:buFont typeface="Arial" panose="020B0604020202090204" pitchFamily="34" charset="0"/>
              <a:buNone/>
              <a:defRPr/>
            </a:pPr>
            <a:r>
              <a:rPr lang="en-IN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Hardware Requirements</a:t>
            </a: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Font typeface="Arial" panose="020B0604020202090204" pitchFamily="34" charset="0"/>
              <a:buNone/>
              <a:defRPr/>
            </a:pP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Sensors: MQ135, pH, DHT22 (temperature/humidity).</a:t>
            </a:r>
            <a:endParaRPr lang="en-I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Raspberry Pi 4 or equivalent gateway for local data aggregation.</a:t>
            </a:r>
            <a:endParaRPr lang="en-I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Wi-Fi / LoRa / LTE modules for communication</a:t>
            </a: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I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Cloud-connected servers </a:t>
            </a: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or VMs for backend and ML processing.</a:t>
            </a:r>
            <a:endParaRPr lang="en-I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 Calibration instruments and weatherproof sensor e</a:t>
            </a: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nclosures.</a:t>
            </a:r>
            <a:endParaRPr lang="en-IN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Font typeface="Arial" panose="020B0604020202090204" pitchFamily="34" charset="0"/>
              <a:buNone/>
              <a:defRPr/>
            </a:pP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B41DA9-4A56-4C36-B8B9-5F4A9D3C1419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620713"/>
            <a:ext cx="8362950" cy="5505450"/>
          </a:xfrm>
        </p:spPr>
        <p:txBody>
          <a:bodyPr/>
          <a:lstStyle/>
          <a:p>
            <a:pPr marL="0" indent="0">
              <a:buFont typeface="Arial" panose="020B0604020202090204" pitchFamily="34" charset="0"/>
              <a:buNone/>
              <a:defRPr/>
            </a:pPr>
            <a:r>
              <a:rPr lang="en-IN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Software Requirements</a:t>
            </a: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buFont typeface="Arial" panose="020B0604020202090204" pitchFamily="34" charset="0"/>
              <a:buNone/>
              <a:defRPr/>
            </a:pP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Edge firmware: Arduino IDE / </a:t>
            </a:r>
            <a:r>
              <a:rPr lang="en-IN" sz="2000" err="1">
                <a:latin typeface="Times New Roman" panose="02020503050405090304" pitchFamily="18" charset="0"/>
                <a:cs typeface="Times New Roman" panose="02020503050405090304" pitchFamily="18" charset="0"/>
              </a:rPr>
              <a:t>MicroPython</a:t>
            </a: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 for IoT nodes.</a:t>
            </a:r>
            <a:endParaRPr lang="en-IN" sz="200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Messaging middleware: MQTT broker (</a:t>
            </a:r>
            <a:r>
              <a:rPr lang="en-IN" sz="2000" err="1">
                <a:latin typeface="Times New Roman" panose="02020503050405090304" pitchFamily="18" charset="0"/>
                <a:cs typeface="Times New Roman" panose="02020503050405090304" pitchFamily="18" charset="0"/>
              </a:rPr>
              <a:t>Mosquitto</a:t>
            </a: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 / AWS IoT Core).</a:t>
            </a:r>
            <a:endParaRPr lang="en-IN" sz="200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Backend: </a:t>
            </a:r>
            <a:r>
              <a:rPr lang="en-I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FastAPI</a:t>
            </a: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/ Node.js REST &amp; WebSocket service.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Database: Firebase.</a:t>
            </a:r>
            <a:endParaRPr lang="en-IN" sz="200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Frontend: React.js, Chart.</a:t>
            </a: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js / Grafana dashboards.</a:t>
            </a:r>
            <a:endParaRPr lang="en-IN" sz="200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ML environment: Python (TensorFlow, scikit-learn, pandas, NumPy).</a:t>
            </a:r>
            <a:endParaRPr lang="en-IN" sz="200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Containerization: Docker, orchestration via Kubernetes.</a:t>
            </a:r>
            <a:endParaRPr lang="en-IN" sz="200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>
                <a:latin typeface="Times New Roman" panose="02020503050405090304" pitchFamily="18" charset="0"/>
                <a:cs typeface="Times New Roman" panose="02020503050405090304" pitchFamily="18" charset="0"/>
              </a:rPr>
              <a:t>CI/CD integration for continuous deployment and versioning.</a:t>
            </a: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defRPr/>
            </a:pPr>
            <a:endParaRPr lang="en-IN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159242-EC1D-4772-A64F-18246ECE4BFC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 eaLnBrk="1" hangingPunct="1"/>
            <a:r>
              <a:rPr lang="en-US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Identification of tools/technology/algorithms</a:t>
            </a:r>
            <a:endParaRPr lang="en-US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235075"/>
            <a:ext cx="8229600" cy="36512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1DC201-59FD-4E84-92D0-8CC8DDD78E49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611188" y="1417638"/>
            <a:ext cx="83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Tools</a:t>
            </a:r>
            <a:endParaRPr lang="en-IN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188" y="2232025"/>
            <a:ext cx="7561262" cy="349250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VS Code for development.</a:t>
            </a:r>
            <a:endParaRPr lang="en-IN" sz="2000" dirty="0">
              <a:latin typeface="Times New Roman" panose="02020503050405090304"/>
              <a:cs typeface="Times New Roman" panose="02020503050405090304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Git, GitHub for version control and collaboration.</a:t>
            </a:r>
            <a:endParaRPr lang="en-IN" sz="2000" dirty="0">
              <a:latin typeface="Times New Roman" panose="02020503050405090304"/>
              <a:cs typeface="Times New Roman" panose="02020503050405090304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Postman  for API testing and validation.</a:t>
            </a:r>
            <a:endParaRPr lang="en-IN" sz="2000" dirty="0">
              <a:latin typeface="Times New Roman" panose="02020503050405090304"/>
              <a:cs typeface="Times New Roman" panose="02020503050405090304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Python data simulation for sensor data (pandas, </a:t>
            </a:r>
            <a:r>
              <a:rPr lang="en-IN" sz="2000" dirty="0" err="1">
                <a:latin typeface="Times New Roman" panose="02020503050405090304"/>
                <a:cs typeface="Times New Roman" panose="02020503050405090304"/>
              </a:rPr>
              <a:t>asyncio</a:t>
            </a: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, </a:t>
            </a:r>
            <a:r>
              <a:rPr lang="en-IN" sz="2000" dirty="0" err="1">
                <a:latin typeface="Times New Roman" panose="02020503050405090304"/>
                <a:cs typeface="Times New Roman" panose="02020503050405090304"/>
              </a:rPr>
              <a:t>mqtt</a:t>
            </a: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).</a:t>
            </a:r>
            <a:endParaRPr lang="en-IN" sz="2000" dirty="0">
              <a:latin typeface="Times New Roman" panose="02020503050405090304"/>
              <a:cs typeface="Times New Roman" panose="02020503050405090304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Docker Desktop for container orchestration.</a:t>
            </a:r>
            <a:endParaRPr lang="en-IN" sz="2000" dirty="0">
              <a:latin typeface="Times New Roman" panose="02020503050405090304"/>
              <a:cs typeface="Times New Roman" panose="02020503050405090304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Grafana for monitoring system performance.</a:t>
            </a:r>
            <a:endParaRPr lang="en-IN" sz="2000" dirty="0">
              <a:latin typeface="Times New Roman" panose="02020503050405090304"/>
              <a:cs typeface="Times New Roman" panose="02020503050405090304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Terraform templates for infrastructure automation.</a:t>
            </a:r>
            <a:endParaRPr lang="en-IN" sz="2000" dirty="0">
              <a:latin typeface="Times New Roman" panose="02020503050405090304"/>
              <a:cs typeface="Times New Roman" panose="02020503050405090304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2000" dirty="0" err="1">
                <a:latin typeface="Times New Roman" panose="02020503050405090304"/>
                <a:cs typeface="Times New Roman" panose="02020503050405090304"/>
              </a:rPr>
              <a:t>ClickUp</a:t>
            </a:r>
            <a:r>
              <a:rPr lang="en-IN" sz="2000" dirty="0">
                <a:latin typeface="Times New Roman" panose="02020503050405090304"/>
                <a:cs typeface="Times New Roman" panose="02020503050405090304"/>
              </a:rPr>
              <a:t> for project tracking and documentation.</a:t>
            </a:r>
            <a:endParaRPr lang="en-IN" sz="2000" dirty="0">
              <a:latin typeface="Times New Roman" panose="02020503050405090304"/>
              <a:cs typeface="Times New Roman" panose="02020503050405090304"/>
            </a:endParaRPr>
          </a:p>
          <a:p>
            <a:pPr>
              <a:defRPr/>
            </a:pPr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 eaLnBrk="1" hangingPunct="1"/>
            <a:r>
              <a:rPr lang="en-US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Identification of tools/technology/algorithms</a:t>
            </a:r>
            <a:endParaRPr lang="en-US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 rot="10800000" flipV="1">
            <a:off x="457200" y="1989138"/>
            <a:ext cx="8147050" cy="4464050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IoT Layer: </a:t>
            </a:r>
            <a:r>
              <a:rPr lang="en-IN" altLang="en-US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NodeMCU</a:t>
            </a: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/ ESP32 microcontrollers with MQTT protocol.</a:t>
            </a:r>
            <a:endParaRPr lang="en-I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Cloud Layer: AWS IoT Core / Azure IoT Hub, S3 / Blob Storage.</a:t>
            </a:r>
            <a:endParaRPr lang="en-IN" altLang="en-US" sz="2000" dirty="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Messaging &amp; Streaming: MQTT, Kafka, WebSocket.</a:t>
            </a:r>
            <a:endParaRPr lang="en-IN" altLang="en-US" sz="2000" dirty="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Backend Layer: </a:t>
            </a:r>
            <a:r>
              <a:rPr lang="en-IN" altLang="en-US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FastAPI</a:t>
            </a: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(Python) / Node.js (Express/</a:t>
            </a:r>
            <a:r>
              <a:rPr lang="en-IN" altLang="en-US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NestJS</a:t>
            </a: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IN" altLang="en-US" sz="2000" dirty="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Frontend Layer: React.js, Chart.js, Grafana visualization dashboards.</a:t>
            </a:r>
            <a:endParaRPr lang="en-IN" altLang="en-US" sz="2000" dirty="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ML Layer: TensorFlow, scikit-learn, </a:t>
            </a:r>
            <a:r>
              <a:rPr lang="en-IN" altLang="en-US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PyTorch</a:t>
            </a: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IN" altLang="en-US" sz="2000" dirty="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Security Layer: OAuth2, JWT, HTTPS/TLS encryption.</a:t>
            </a:r>
            <a:endParaRPr lang="en-IN" altLang="en-US" sz="2000" dirty="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Container Layer: Docker, Kubernetes for deployment and scaling.</a:t>
            </a:r>
            <a:endParaRPr lang="en-IN" altLang="en-US" sz="2000" dirty="0">
              <a:latin typeface="Times New Roman" panose="02020503050405090304" pitchFamily="18" charset="0"/>
              <a:ea typeface="Calibri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Edge Layer: Raspberry Pi for local buffering and preprocessing.</a:t>
            </a:r>
            <a:endParaRPr lang="en-IN" altLang="en-US" sz="2000" dirty="0">
              <a:ea typeface="Calibri"/>
              <a:cs typeface="Calibri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DDC764-FD0C-41D9-822B-31CA395B6E57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611188" y="1417638"/>
            <a:ext cx="1657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Technologies</a:t>
            </a:r>
            <a:endParaRPr lang="en-IN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 eaLnBrk="1" hangingPunct="1"/>
            <a:r>
              <a:rPr lang="en-US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Identification of tools/technology/algorithms</a:t>
            </a:r>
            <a:endParaRPr lang="en-US" altLang="en-US" sz="28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2205038"/>
            <a:ext cx="8435975" cy="2952750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Kalman Filter for sensor fusion and noise reduction.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Data preprocessing: outlier removal, normalization, interpolation.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Anomaly detection using Random Forest, LSTM, and Isolation Forest.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Threshold-based rules for immediate alert triggering.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Forecasting: ARIMA / Prophet for predictive trend analysis.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Model evaluation: precision, recall, F1-score, ROC/AUC metrics.</a:t>
            </a:r>
            <a:endParaRPr lang="en-IN" altLang="en-US" sz="2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altLang="en-US" sz="2000">
                <a:latin typeface="Times New Roman" panose="02020503050405090304" pitchFamily="18" charset="0"/>
                <a:cs typeface="Times New Roman" panose="02020503050405090304" pitchFamily="18" charset="0"/>
              </a:rPr>
              <a:t>Data aggregation and drift correction for continuous calibration</a:t>
            </a:r>
            <a:endParaRPr lang="en-US" altLang="en-US" sz="2000" b="1" i="1" u="sng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009253-8188-43F3-BA0B-60135EAF8211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539750" y="1484313"/>
            <a:ext cx="1565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Algorithms</a:t>
            </a:r>
            <a:endParaRPr lang="en-IN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Design Strategy</a:t>
            </a:r>
            <a:endParaRPr lang="en-IN" altLang="en-US" sz="280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8286A9-C33D-40FD-8A3A-0F4CBA8048BB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684213" y="1233488"/>
            <a:ext cx="7559675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Project Workflow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IN" altLang="en-US" sz="2000" b="1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</a:t>
            </a: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95638" y="1604963"/>
            <a:ext cx="2743200" cy="471487"/>
          </a:xfrm>
          <a:prstGeom prst="rect">
            <a:avLst/>
          </a:prstGeom>
          <a:solidFill>
            <a:srgbClr val="E1F5FE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1400" b="1">
                <a:solidFill>
                  <a:srgbClr val="003366"/>
                </a:solidFill>
              </a:rPr>
              <a:t>1. Data Sensing</a:t>
            </a:r>
            <a:br>
              <a:rPr sz="1400" b="1">
                <a:solidFill>
                  <a:srgbClr val="003366"/>
                </a:solidFill>
              </a:rPr>
            </a:br>
            <a:r>
              <a:rPr sz="1400" b="1">
                <a:solidFill>
                  <a:srgbClr val="003366"/>
                </a:solidFill>
              </a:rPr>
              <a:t>(Sensors / IoT Node)</a:t>
            </a:r>
            <a:endParaRPr sz="1400" b="1">
              <a:solidFill>
                <a:srgbClr val="003366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3575" y="2447925"/>
            <a:ext cx="2743200" cy="471488"/>
          </a:xfrm>
          <a:prstGeom prst="rect">
            <a:avLst/>
          </a:prstGeom>
          <a:solidFill>
            <a:srgbClr val="E1F5FE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1400" b="1">
                <a:solidFill>
                  <a:srgbClr val="003366"/>
                </a:solidFill>
              </a:rPr>
              <a:t>2. Edge Processing</a:t>
            </a:r>
            <a:br>
              <a:rPr sz="1400" b="1">
                <a:solidFill>
                  <a:srgbClr val="003366"/>
                </a:solidFill>
              </a:rPr>
            </a:br>
            <a:r>
              <a:rPr sz="1400" b="1">
                <a:solidFill>
                  <a:srgbClr val="003366"/>
                </a:solidFill>
              </a:rPr>
              <a:t>(Kalman Filter)</a:t>
            </a:r>
            <a:endParaRPr sz="1400" b="1">
              <a:solidFill>
                <a:srgbClr val="003366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3575" y="3286125"/>
            <a:ext cx="2743200" cy="471488"/>
          </a:xfrm>
          <a:prstGeom prst="rect">
            <a:avLst/>
          </a:prstGeom>
          <a:solidFill>
            <a:srgbClr val="E1F5FE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1400" b="1">
                <a:solidFill>
                  <a:srgbClr val="003366"/>
                </a:solidFill>
              </a:rPr>
              <a:t>3. Cloud Ingestion</a:t>
            </a:r>
            <a:br>
              <a:rPr sz="1400" b="1">
                <a:solidFill>
                  <a:srgbClr val="003366"/>
                </a:solidFill>
              </a:rPr>
            </a:br>
            <a:r>
              <a:rPr sz="1400" b="1">
                <a:solidFill>
                  <a:srgbClr val="003366"/>
                </a:solidFill>
              </a:rPr>
              <a:t>(MQTT)</a:t>
            </a:r>
            <a:endParaRPr sz="1400" b="1">
              <a:solidFill>
                <a:srgbClr val="003366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95638" y="4125913"/>
            <a:ext cx="2743200" cy="471487"/>
          </a:xfrm>
          <a:prstGeom prst="rect">
            <a:avLst/>
          </a:prstGeom>
          <a:solidFill>
            <a:srgbClr val="E1F5FE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1400" b="1">
                <a:solidFill>
                  <a:srgbClr val="003366"/>
                </a:solidFill>
              </a:rPr>
              <a:t>4. Cloud Storage</a:t>
            </a:r>
            <a:br>
              <a:rPr sz="1400" b="1">
                <a:solidFill>
                  <a:srgbClr val="003366"/>
                </a:solidFill>
              </a:rPr>
            </a:br>
            <a:r>
              <a:rPr sz="1400" b="1">
                <a:solidFill>
                  <a:srgbClr val="003366"/>
                </a:solidFill>
              </a:rPr>
              <a:t>(Analytics)</a:t>
            </a:r>
            <a:endParaRPr sz="1400" b="1">
              <a:solidFill>
                <a:srgbClr val="003366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3575" y="4973638"/>
            <a:ext cx="2743200" cy="471487"/>
          </a:xfrm>
          <a:prstGeom prst="rect">
            <a:avLst/>
          </a:prstGeom>
          <a:solidFill>
            <a:srgbClr val="E1F5FE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1400" b="1">
                <a:solidFill>
                  <a:srgbClr val="003366"/>
                </a:solidFill>
              </a:rPr>
              <a:t>5. Real-time Alerting</a:t>
            </a:r>
            <a:br>
              <a:rPr sz="1400" b="1">
                <a:solidFill>
                  <a:srgbClr val="003366"/>
                </a:solidFill>
              </a:rPr>
            </a:br>
            <a:r>
              <a:rPr sz="1400" b="1">
                <a:solidFill>
                  <a:srgbClr val="003366"/>
                </a:solidFill>
              </a:rPr>
              <a:t>(SMS / Email)</a:t>
            </a:r>
            <a:endParaRPr sz="1400" b="1">
              <a:solidFill>
                <a:srgbClr val="00336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3575" y="5884863"/>
            <a:ext cx="2743200" cy="471487"/>
          </a:xfrm>
          <a:prstGeom prst="rect">
            <a:avLst/>
          </a:prstGeom>
          <a:solidFill>
            <a:srgbClr val="E1F5FE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1400" b="1">
                <a:solidFill>
                  <a:srgbClr val="003366"/>
                </a:solidFill>
              </a:rPr>
              <a:t>6. User Interface</a:t>
            </a:r>
            <a:br>
              <a:rPr sz="1400" b="1">
                <a:solidFill>
                  <a:srgbClr val="003366"/>
                </a:solidFill>
              </a:rPr>
            </a:br>
            <a:r>
              <a:rPr sz="1400" b="1">
                <a:solidFill>
                  <a:srgbClr val="003366"/>
                </a:solidFill>
              </a:rPr>
              <a:t>(Mobile / Web App)</a:t>
            </a:r>
            <a:endParaRPr sz="1400" b="1">
              <a:solidFill>
                <a:srgbClr val="003366"/>
              </a:solidFill>
            </a:endParaRPr>
          </a:p>
        </p:txBody>
      </p:sp>
      <p:sp>
        <p:nvSpPr>
          <p:cNvPr id="9" name="Down Arrow 3"/>
          <p:cNvSpPr/>
          <p:nvPr/>
        </p:nvSpPr>
        <p:spPr>
          <a:xfrm>
            <a:off x="4471988" y="2178050"/>
            <a:ext cx="206375" cy="163513"/>
          </a:xfrm>
          <a:prstGeom prst="downArrow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</a:p>
        </p:txBody>
      </p:sp>
      <p:sp>
        <p:nvSpPr>
          <p:cNvPr id="11" name="Down Arrow 3"/>
          <p:cNvSpPr/>
          <p:nvPr/>
        </p:nvSpPr>
        <p:spPr>
          <a:xfrm>
            <a:off x="4471988" y="3041650"/>
            <a:ext cx="206375" cy="165100"/>
          </a:xfrm>
          <a:prstGeom prst="downArrow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</a:p>
        </p:txBody>
      </p:sp>
      <p:sp>
        <p:nvSpPr>
          <p:cNvPr id="12" name="Down Arrow 3"/>
          <p:cNvSpPr/>
          <p:nvPr/>
        </p:nvSpPr>
        <p:spPr>
          <a:xfrm>
            <a:off x="4471988" y="3854450"/>
            <a:ext cx="206375" cy="165100"/>
          </a:xfrm>
          <a:prstGeom prst="downArrow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</a:p>
        </p:txBody>
      </p:sp>
      <p:sp>
        <p:nvSpPr>
          <p:cNvPr id="13" name="Down Arrow 3"/>
          <p:cNvSpPr/>
          <p:nvPr/>
        </p:nvSpPr>
        <p:spPr>
          <a:xfrm>
            <a:off x="4476750" y="4711700"/>
            <a:ext cx="206375" cy="163513"/>
          </a:xfrm>
          <a:prstGeom prst="downArrow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</a:p>
        </p:txBody>
      </p:sp>
      <p:sp>
        <p:nvSpPr>
          <p:cNvPr id="14" name="Down Arrow 3"/>
          <p:cNvSpPr/>
          <p:nvPr/>
        </p:nvSpPr>
        <p:spPr>
          <a:xfrm>
            <a:off x="4464050" y="5624513"/>
            <a:ext cx="206375" cy="163512"/>
          </a:xfrm>
          <a:prstGeom prst="downArrow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2588" cy="561975"/>
          </a:xfrm>
        </p:spPr>
        <p:txBody>
          <a:bodyPr/>
          <a:lstStyle/>
          <a:p>
            <a:r>
              <a:rPr lang="en-US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Design Strategy</a:t>
            </a:r>
            <a:endParaRPr lang="en-US" altLang="en-US" sz="2800"/>
          </a:p>
        </p:txBody>
      </p:sp>
      <p:sp>
        <p:nvSpPr>
          <p:cNvPr id="19460" name="TextBox 3"/>
          <p:cNvSpPr txBox="1">
            <a:spLocks noChangeArrowheads="1"/>
          </p:cNvSpPr>
          <p:nvPr/>
        </p:nvSpPr>
        <p:spPr bwMode="auto">
          <a:xfrm>
            <a:off x="971550" y="957580"/>
            <a:ext cx="2089150" cy="1229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imes New Roman" panose="02020503050405090304"/>
                <a:cs typeface="Times New Roman" panose="02020503050405090304"/>
              </a:rPr>
              <a:t>System Design</a:t>
            </a:r>
            <a:endParaRPr lang="en-IN" altLang="en-US" sz="1800">
              <a:latin typeface="Times New Roman" panose="02020503050405090304"/>
              <a:cs typeface="Times New Roman" panose="02020503050405090304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latin typeface="Times New Roman" panose="02020503050405090304"/>
              <a:cs typeface="Times New Roman" panose="02020503050405090304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latin typeface="Times New Roman" panose="02020503050405090304"/>
              <a:ea typeface="Calibri" panose="020F0502020204030204" pitchFamily="34" charset="0"/>
              <a:cs typeface="Times New Roman" panose="02020503050405090304"/>
            </a:endParaRPr>
          </a:p>
          <a:p>
            <a:pPr>
              <a:spcBef>
                <a:spcPct val="0"/>
              </a:spcBef>
              <a:buNone/>
            </a:pPr>
            <a:endParaRPr lang="en-IN" altLang="en-US" sz="1800">
              <a:ea typeface="Calibri" panose="020F0502020204030204" pitchFamily="34" charset="0"/>
            </a:endParaRPr>
          </a:p>
        </p:txBody>
      </p:sp>
      <p:pic>
        <p:nvPicPr>
          <p:cNvPr id="3" name="Picture 2" descr="A diagram of a syste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081" y="1446364"/>
            <a:ext cx="8690920" cy="5406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183347-AB11-41FA-B070-515C258E62FA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altLang="en-US" sz="2800" b="1">
                <a:latin typeface="Times New Roman" panose="02020503050405090304" pitchFamily="18" charset="0"/>
                <a:cs typeface="Times New Roman" panose="02020503050405090304" pitchFamily="18" charset="0"/>
              </a:rPr>
              <a:t>Design Strategy</a:t>
            </a:r>
            <a:endParaRPr lang="en-IN" altLang="en-US" sz="2800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107950" y="1052513"/>
            <a:ext cx="8578850" cy="1883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000" b="1">
                <a:latin typeface="Times New Roman" panose="02020503050405090304"/>
                <a:cs typeface="Times New Roman" panose="02020503050405090304"/>
              </a:rPr>
              <a:t>UML Diagrams : Use Case Diagram</a:t>
            </a:r>
            <a:endParaRPr lang="en-US" altLang="en-US" sz="2000" b="1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en-US" sz="20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Picture 3" descr="A diagram of a cloud monitoring syste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849" y="1678459"/>
            <a:ext cx="7753978" cy="48603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67BAED-11C1-4BF9-A253-7F141A72D31A}" type="slidenum">
              <a:rPr lang="en-IN" altLang="en-US"/>
            </a:fld>
            <a:endParaRPr lang="en-I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72747" y="480855"/>
            <a:ext cx="8318324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>
                <a:latin typeface="Times New Roman" panose="02020503050405090304"/>
                <a:cs typeface="Times New Roman" panose="02020503050405090304"/>
              </a:rPr>
              <a:t>UML Diagrams : Class Diagram</a:t>
            </a:r>
            <a:endParaRPr lang="en-US" sz="2000">
              <a:latin typeface="Times New Roman" panose="02020503050405090304"/>
              <a:cs typeface="Times New Roman" panose="02020503050405090304"/>
            </a:endParaRPr>
          </a:p>
          <a:p>
            <a:pPr algn="l"/>
            <a:endParaRPr lang="en-US" sz="2000" b="1">
              <a:latin typeface="Times New Roman" panose="02020503050405090304"/>
              <a:ea typeface="Calibri"/>
              <a:cs typeface="Times New Roman" panose="02020503050405090304"/>
            </a:endParaRPr>
          </a:p>
          <a:p>
            <a:endParaRPr lang="en-US" sz="2000" b="1">
              <a:latin typeface="Times New Roman" panose="02020503050405090304"/>
              <a:ea typeface="Calibri"/>
              <a:cs typeface="Times New Roman" panose="02020503050405090304"/>
            </a:endParaRPr>
          </a:p>
          <a:p>
            <a:endParaRPr lang="en-US">
              <a:ea typeface="Calibri"/>
            </a:endParaRPr>
          </a:p>
        </p:txBody>
      </p:sp>
      <p:pic>
        <p:nvPicPr>
          <p:cNvPr id="5" name="Picture 4" descr="A diagram of a serv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244" y="1121103"/>
            <a:ext cx="7980405" cy="50585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>
                <a:latin typeface="Times New Roman" panose="02020503050405090304" pitchFamily="18" charset="0"/>
                <a:cs typeface="Times New Roman" panose="02020503050405090304" pitchFamily="18" charset="0"/>
              </a:rPr>
              <a:t>Conclusion</a:t>
            </a:r>
            <a:endParaRPr lang="en-IN" altLang="en-US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B92051-8C66-4E18-80D4-7FFAC3550E50}" type="slidenum">
              <a:rPr lang="en-IN" altLang="en-US" sz="1200" smtClean="0">
                <a:solidFill>
                  <a:srgbClr val="898989"/>
                </a:solidFill>
              </a:rPr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572218" y="1719562"/>
            <a:ext cx="7900749" cy="38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Wingdings" panose="05000000000000000000"/>
              <a:buChar char="Ø"/>
            </a:pPr>
            <a:r>
              <a:rPr lang="en-US" sz="2000" dirty="0">
                <a:latin typeface="Times New Roman" panose="02020503050405090304"/>
                <a:ea typeface="Calibri" panose="020F0502020204030204" pitchFamily="34" charset="0"/>
                <a:cs typeface="Calibri"/>
              </a:rPr>
              <a:t>Our project successfully integrates IoT, cloud, and machine learning for real-time environmental monitoring.</a:t>
            </a:r>
            <a:endParaRPr lang="en-US" sz="2000">
              <a:latin typeface="Times New Roman" panose="02020503050405090304"/>
              <a:ea typeface="Calibri" panose="020F0502020204030204" pitchFamily="34" charset="0"/>
              <a:cs typeface="Arial" panose="020B0604020202090204"/>
            </a:endParaRPr>
          </a:p>
          <a:p>
            <a:pPr>
              <a:buFont typeface="Wingdings" panose="05000000000000000000"/>
              <a:buChar char="Ø"/>
            </a:pPr>
            <a:r>
              <a:rPr lang="en-US" sz="2000" dirty="0">
                <a:latin typeface="Times New Roman" panose="02020503050405090304"/>
                <a:ea typeface="Calibri" panose="020F0502020204030204" pitchFamily="34" charset="0"/>
                <a:cs typeface="Calibri"/>
              </a:rPr>
              <a:t>The system can collect, process, and analyze data efficiently using sensors and cloud storage.</a:t>
            </a:r>
            <a:endParaRPr lang="en-US" sz="2000">
              <a:latin typeface="Times New Roman" panose="02020503050405090304"/>
              <a:ea typeface="Calibri" panose="020F0502020204030204" pitchFamily="34" charset="0"/>
              <a:cs typeface="Arial" panose="020B0604020202090204"/>
            </a:endParaRPr>
          </a:p>
          <a:p>
            <a:pPr>
              <a:buFont typeface="Wingdings" panose="05000000000000000000"/>
              <a:buChar char="Ø"/>
            </a:pPr>
            <a:r>
              <a:rPr lang="en-US" sz="2000" dirty="0">
                <a:latin typeface="Times New Roman" panose="02020503050405090304"/>
                <a:ea typeface="Calibri" panose="020F0502020204030204" pitchFamily="34" charset="0"/>
                <a:cs typeface="Calibri"/>
              </a:rPr>
              <a:t>Machine learning helps detect anomalies and send alerts through SMS or email.</a:t>
            </a:r>
            <a:endParaRPr lang="en-US" sz="2000">
              <a:latin typeface="Times New Roman" panose="02020503050405090304"/>
              <a:ea typeface="Calibri" panose="020F0502020204030204" pitchFamily="34" charset="0"/>
              <a:cs typeface="Arial" panose="020B0604020202090204"/>
            </a:endParaRPr>
          </a:p>
          <a:p>
            <a:pPr>
              <a:buFont typeface="Wingdings" panose="05000000000000000000"/>
              <a:buChar char="Ø"/>
            </a:pPr>
            <a:r>
              <a:rPr lang="en-US" sz="2000" dirty="0">
                <a:latin typeface="Times New Roman" panose="02020503050405090304"/>
                <a:ea typeface="Calibri" panose="020F0502020204030204" pitchFamily="34" charset="0"/>
                <a:cs typeface="Calibri"/>
              </a:rPr>
              <a:t>The design ensures accuracy, reliability, and scalability for future improvements.</a:t>
            </a:r>
            <a:endParaRPr lang="en-US" sz="2000">
              <a:latin typeface="Times New Roman" panose="02020503050405090304"/>
              <a:ea typeface="Calibri" panose="020F0502020204030204" pitchFamily="34" charset="0"/>
              <a:cs typeface="Arial" panose="020B0604020202090204"/>
            </a:endParaRPr>
          </a:p>
          <a:p>
            <a:pPr>
              <a:buFont typeface="Wingdings" panose="05000000000000000000"/>
              <a:buChar char="Ø"/>
            </a:pPr>
            <a:r>
              <a:rPr lang="en-US" sz="2000" dirty="0">
                <a:latin typeface="Times New Roman" panose="02020503050405090304"/>
                <a:ea typeface="Calibri" panose="020F0502020204030204" pitchFamily="34" charset="0"/>
                <a:cs typeface="Calibri"/>
              </a:rPr>
              <a:t>Overall, the project helps in smart and automated environmental monitoring.</a:t>
            </a:r>
            <a:endParaRPr lang="en-US" sz="2000">
              <a:latin typeface="Times New Roman" panose="02020503050405090304"/>
              <a:ea typeface="Calibri" panose="020F0502020204030204" pitchFamily="34" charset="0"/>
              <a:cs typeface="Arial" panose="020B0604020202090204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endParaRPr lang="en-US" altLang="en-US" sz="2000" dirty="0">
              <a:latin typeface="Times New Roman" panose="02020503050405090304"/>
              <a:ea typeface="Calibri" panose="020F0502020204030204" pitchFamily="34" charset="0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D:\GITAM-GST-CSE\2024-25\Capstone-Project\GITAM-newlogo.jpe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179388" y="873125"/>
            <a:ext cx="8929687" cy="53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73025"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sz="1800" dirty="0">
                <a:latin typeface="Times New Roman" panose="02020503050405090304"/>
                <a:cs typeface="Times New Roman" panose="02020503050405090304"/>
              </a:rPr>
              <a:t>[1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] Shah, A. A., Reddy, G. A., &amp; Kaviya, V. (2023). Multiutility &amp; Customizable Environment Monitoring System with the Healthcare Utilities. </a:t>
            </a:r>
            <a:r>
              <a:rPr lang="en-US" sz="2000" b="1" dirty="0">
                <a:latin typeface="Times New Roman" panose="02020503050405090304"/>
                <a:cs typeface="Times New Roman" panose="02020503050405090304"/>
              </a:rPr>
              <a:t>International Journal for Multidisciplinary Research (IJFMR)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, Vol. 5, Issue 5, Sept–Oct 2023. E-ISSN: 2582-2160. </a:t>
            </a:r>
            <a:endParaRPr lang="en-US" dirty="0"/>
          </a:p>
          <a:p>
            <a:pPr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•</a:t>
            </a:r>
            <a:endParaRPr lang="en-IN" dirty="0"/>
          </a:p>
          <a:p>
            <a:pPr>
              <a:buNone/>
            </a:pP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[2] Narayana, T. L., Venkatesh, C., Kiran, A., Babu, C. J., Kumar, A., Khan, S. B., </a:t>
            </a:r>
            <a:r>
              <a:rPr lang="en-US" sz="2000" dirty="0" err="1">
                <a:latin typeface="Times New Roman" panose="02020503050405090304"/>
                <a:cs typeface="Times New Roman" panose="02020503050405090304"/>
              </a:rPr>
              <a:t>Almusharraf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, A., &amp; Quasim, M. T. (2024). Advances in real time smart monitoring of environmental parameters using IoT and sensors. </a:t>
            </a:r>
            <a:r>
              <a:rPr lang="en-US" sz="2000" b="1" dirty="0" err="1">
                <a:latin typeface="Times New Roman" panose="02020503050405090304"/>
                <a:cs typeface="Times New Roman" panose="02020503050405090304"/>
              </a:rPr>
              <a:t>Heliyon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, 10, e28195. Elsevier. </a:t>
            </a:r>
            <a:endParaRPr lang="en-IN" dirty="0"/>
          </a:p>
          <a:p>
            <a:pPr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•</a:t>
            </a:r>
            <a:endParaRPr lang="en-IN" dirty="0"/>
          </a:p>
          <a:p>
            <a:pPr>
              <a:buNone/>
            </a:pP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[3] Singh, B., Thakur, A., Chauhan, D., Srivastava, S., &amp; Pant, V. K. (2025). IoT-Based Smart Sensors for Environmental Pollution Detection and Control. </a:t>
            </a:r>
            <a:r>
              <a:rPr lang="en-US" sz="2000" b="1" dirty="0">
                <a:latin typeface="Times New Roman" panose="02020503050405090304"/>
                <a:cs typeface="Times New Roman" panose="02020503050405090304"/>
              </a:rPr>
              <a:t>Stallion Journal for Multidisciplinary Associated Research Studies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, 2nd ICMRI Conference Proceedings.</a:t>
            </a:r>
            <a:endParaRPr lang="en-IN" dirty="0"/>
          </a:p>
          <a:p>
            <a:pPr>
              <a:buNone/>
            </a:pP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[4] J. Jo, B. Jo, J. Kim, S. Kim, and W. Han, “Development of an IoT-Based Indoor Air Quality Monitoring Platform,” Journal of Sensors, vol. 2020, pp. 1–14, Jan. 2020</a:t>
            </a:r>
            <a:endParaRPr lang="en-IN" dirty="0"/>
          </a:p>
          <a:p>
            <a:pPr>
              <a:buFont typeface="Arial" panose="020B0604020202090204" pitchFamily="34" charset="0"/>
              <a:buNone/>
            </a:pPr>
            <a:endParaRPr lang="en-US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3711575" y="269875"/>
            <a:ext cx="16144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Times New Roman" panose="02020503050405090304" pitchFamily="18" charset="0"/>
                <a:cs typeface="Times New Roman" panose="02020503050405090304" pitchFamily="18" charset="0"/>
              </a:rPr>
              <a:t>References</a:t>
            </a:r>
            <a:endParaRPr lang="en-IN" altLang="en-US" sz="2400" b="1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D:\GITAM-GST-CSE\2024-25\Capstone-Project\GITAM-newlogo.jpe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-26988"/>
            <a:ext cx="2339975" cy="96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179388" y="873125"/>
            <a:ext cx="89296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73025"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en-US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3711575" y="269875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2519" y="1202376"/>
            <a:ext cx="5907974" cy="31914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64869" y="1128155"/>
            <a:ext cx="7540831" cy="5299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27655" y="1125820"/>
            <a:ext cx="7552593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[5] C. Gopi, V. Pramodh, M. S. Charan, K. S. K. Reddy, and D. </a:t>
            </a:r>
            <a:r>
              <a:rPr lang="en-US" sz="2000" err="1">
                <a:latin typeface="Times New Roman" panose="02020503050405090304"/>
                <a:cs typeface="Times New Roman" panose="02020503050405090304"/>
              </a:rPr>
              <a:t>SaiVamsi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, “Cloud-Based Air Quality Monitoring through Wireless Sensor Network Using </a:t>
            </a:r>
            <a:r>
              <a:rPr lang="en-US" sz="2000" err="1">
                <a:latin typeface="Times New Roman" panose="02020503050405090304"/>
                <a:cs typeface="Times New Roman" panose="02020503050405090304"/>
              </a:rPr>
              <a:t>NodeMCU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,” International Journal for Research in Applied Science &amp; Engineering Technology (IJRASET), vol. 10, no. 12, pp. 911–915, Dec. 2022.</a:t>
            </a:r>
            <a:endParaRPr lang="en-US" sz="2000">
              <a:latin typeface="Times New Roman" panose="02020503050405090304"/>
              <a:ea typeface="Calibri"/>
            </a:endParaRPr>
          </a:p>
          <a:p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[6] L. Moses, Tamilselvan, Raju, and Karthikeyan, “IoT enabled Environmental Air Pollution Monitoring and Rerouting system using Machine learning algorithms,” IOP Conf. Ser.: Mater. Sci. Eng., vol. 955, p. 012005, 2020.</a:t>
            </a:r>
            <a:endParaRPr lang="en-US" sz="2000">
              <a:latin typeface="Times New Roman" panose="02020503050405090304"/>
              <a:ea typeface="Calibri"/>
            </a:endParaRPr>
          </a:p>
          <a:p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[7] S. P. Nikam and S. M. Kulkarni, “IoT based Environmental Monitoring System,” Int. J. Eng. Res. Technol. (IJERT), vol. 10, no. 6, pp. 845–850, Jun. 2021.</a:t>
            </a:r>
            <a:endParaRPr lang="en-US" sz="2000">
              <a:latin typeface="Times New Roman" panose="02020503050405090304"/>
              <a:ea typeface="Calibri"/>
            </a:endParaRPr>
          </a:p>
          <a:p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[8] S. R. Laha, B. K. </a:t>
            </a:r>
            <a:r>
              <a:rPr lang="en-US" sz="2000" err="1">
                <a:latin typeface="Times New Roman" panose="02020503050405090304"/>
                <a:cs typeface="Times New Roman" panose="02020503050405090304"/>
              </a:rPr>
              <a:t>Pattanayak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, and S. </a:t>
            </a:r>
            <a:r>
              <a:rPr lang="en-US" sz="2000" err="1">
                <a:latin typeface="Times New Roman" panose="02020503050405090304"/>
                <a:cs typeface="Times New Roman" panose="02020503050405090304"/>
              </a:rPr>
              <a:t>Pattnaik</a:t>
            </a:r>
            <a:r>
              <a:rPr lang="en-US" sz="2000" dirty="0">
                <a:latin typeface="Times New Roman" panose="02020503050405090304"/>
                <a:cs typeface="Times New Roman" panose="02020503050405090304"/>
              </a:rPr>
              <a:t>, “Advancement of Environmental Monitoring System Using IoT and Sensor: A Comprehensive Analysis,” AIMS Environmental Science, vol. 9, no. 6, pp. 771–800, Nov. 2022.</a:t>
            </a:r>
            <a:endParaRPr lang="en-US" sz="2000">
              <a:latin typeface="Times New Roman" panose="02020503050405090304"/>
              <a:ea typeface="Calibri"/>
            </a:endParaRPr>
          </a:p>
          <a:p>
            <a:pPr algn="l"/>
            <a:endParaRPr lang="en-US" dirty="0">
              <a:ea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8301</Words>
  <Application>WPS Presentation</Application>
  <PresentationFormat>On-screen Show (4:3)</PresentationFormat>
  <Paragraphs>259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SimSun</vt:lpstr>
      <vt:lpstr>Wingdings</vt:lpstr>
      <vt:lpstr>Calibri</vt:lpstr>
      <vt:lpstr>Helvetica Neue</vt:lpstr>
      <vt:lpstr>Times New Roman</vt:lpstr>
      <vt:lpstr>Times New Roman</vt:lpstr>
      <vt:lpstr>Wingdings</vt:lpstr>
      <vt:lpstr>Wingdings</vt:lpstr>
      <vt:lpstr>Calibri</vt:lpstr>
      <vt:lpstr>Arial</vt:lpstr>
      <vt:lpstr>Microsoft YaHei</vt:lpstr>
      <vt:lpstr>汉仪旗黑</vt:lpstr>
      <vt:lpstr>Arial Unicode MS</vt:lpstr>
      <vt:lpstr>宋体-简</vt:lpstr>
      <vt:lpstr>Office Theme</vt:lpstr>
      <vt:lpstr>1_Office Theme</vt:lpstr>
      <vt:lpstr>2_Office Theme</vt:lpstr>
      <vt:lpstr>Capstone Project – I:  Review – 2 on Cloud-IoT Based Environmental Monitoring and Alert System</vt:lpstr>
      <vt:lpstr>CONTENTS</vt:lpstr>
      <vt:lpstr>Problem Statement</vt:lpstr>
      <vt:lpstr>Objectives</vt:lpstr>
      <vt:lpstr>Feedback from Guide/Reviewers and actions taken after Review–1</vt:lpstr>
      <vt:lpstr>Requirement Analysis</vt:lpstr>
      <vt:lpstr>PowerPoint 演示文稿</vt:lpstr>
      <vt:lpstr>PowerPoint 演示文稿</vt:lpstr>
      <vt:lpstr>PowerPoint 演示文稿</vt:lpstr>
      <vt:lpstr>Identification of tools/technology/algorithms</vt:lpstr>
      <vt:lpstr>Identification of tools/technology/algorithms</vt:lpstr>
      <vt:lpstr>Identification of tools/technology/algorithms</vt:lpstr>
      <vt:lpstr>Design Strategy</vt:lpstr>
      <vt:lpstr>Design Strategy</vt:lpstr>
      <vt:lpstr>Design Strategy</vt:lpstr>
      <vt:lpstr>PowerPoint 演示文稿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Sreekar 22214902101</cp:lastModifiedBy>
  <cp:revision>113</cp:revision>
  <dcterms:created xsi:type="dcterms:W3CDTF">2025-11-15T09:50:43Z</dcterms:created>
  <dcterms:modified xsi:type="dcterms:W3CDTF">2025-11-15T09:50:43Z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80707E6F429038AFF34C186975254A89_43</vt:lpwstr>
  </property>
  <property fmtid="{D5CDD505-2E9C-101B-9397-08002B2CF9AE}" pid="3" name="KSOProductBuildVer">
    <vt:lpwstr>1033-12.1.23152.23152</vt:lpwstr>
  </property>
</Properties>
</file>